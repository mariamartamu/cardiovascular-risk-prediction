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8.xml"/>
  <Override ContentType="application/vnd.openxmlformats-officedocument.presentationml.comments+xml" PartName="/ppt/comments/comment5.xml"/>
  <Override ContentType="application/vnd.openxmlformats-officedocument.presentationml.comments+xml" PartName="/ppt/comments/comment6.xml"/>
  <Override ContentType="application/vnd.openxmlformats-officedocument.presentationml.comments+xml" PartName="/ppt/comments/comment7.xml"/>
  <Override ContentType="application/vnd.openxmlformats-officedocument.presentationml.comments+xml" PartName="/ppt/comments/comment4.xml"/>
  <Override ContentType="application/vnd.openxmlformats-officedocument.presentationml.comments+xml" PartName="/ppt/comments/comment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y="5143500" cx="9144000"/>
  <p:notesSz cx="6858000" cy="9144000"/>
  <p:embeddedFontLst>
    <p:embeddedFont>
      <p:font typeface="Roboto"/>
      <p:regular r:id="rId23"/>
      <p:bold r:id="rId24"/>
      <p:italic r:id="rId25"/>
      <p:boldItalic r:id="rId26"/>
    </p:embeddedFont>
    <p:embeddedFont>
      <p:font typeface="Merriweather"/>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8" name="Neeti Shah"/>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Roboto-bold.fntdata"/><Relationship Id="rId23" Type="http://schemas.openxmlformats.org/officeDocument/2006/relationships/font" Target="fonts/Roboto-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3.xml"/><Relationship Id="rId26" Type="http://schemas.openxmlformats.org/officeDocument/2006/relationships/font" Target="fonts/Roboto-boldItalic.fntdata"/><Relationship Id="rId25" Type="http://schemas.openxmlformats.org/officeDocument/2006/relationships/font" Target="fonts/Roboto-italic.fntdata"/><Relationship Id="rId28" Type="http://schemas.openxmlformats.org/officeDocument/2006/relationships/font" Target="fonts/Merriweather-bold.fntdata"/><Relationship Id="rId27" Type="http://schemas.openxmlformats.org/officeDocument/2006/relationships/font" Target="fonts/Merriweather-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Merriweather-italic.fntdata"/><Relationship Id="rId7" Type="http://schemas.openxmlformats.org/officeDocument/2006/relationships/slide" Target="slides/slide1.xml"/><Relationship Id="rId8" Type="http://schemas.openxmlformats.org/officeDocument/2006/relationships/slide" Target="slides/slide2.xml"/><Relationship Id="rId30" Type="http://schemas.openxmlformats.org/officeDocument/2006/relationships/font" Target="fonts/Merriweather-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5-05-12T01:00:57.190">
    <p:pos x="6000" y="0"/>
    <p:text>Marta</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5-05-12T01:01:06.594">
    <p:pos x="6000" y="0"/>
    <p:text>Marta</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5-05-12T01:01:15.889">
    <p:pos x="6000" y="0"/>
    <p:text>Marta</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4" dt="2025-05-12T01:01:41.775">
    <p:pos x="6000" y="0"/>
    <p:text>Neeti</p:text>
  </p:cm>
</p:cmLst>
</file>

<file path=ppt/comments/comment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5" dt="2025-05-12T01:01:52.992">
    <p:pos x="6000" y="0"/>
    <p:text>Marta</p:text>
  </p:cm>
</p:cmLst>
</file>

<file path=ppt/comments/comment6.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6" dt="2025-05-12T17:13:55.183">
    <p:pos x="6000" y="0"/>
    <p:text>Neeti</p:text>
  </p:cm>
</p:cmLst>
</file>

<file path=ppt/comments/comment7.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7" dt="2025-05-12T01:02:03.504">
    <p:pos x="6000" y="0"/>
    <p:text>Neeti</p:text>
  </p:cm>
</p:cmLst>
</file>

<file path=ppt/comments/comment8.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8" dt="2025-05-12T19:21:27.639">
    <p:pos x="6000" y="0"/>
    <p:text>Briana</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Good afternoon everyone. Thank you for joining us today. We’re excited to present our project on </a:t>
            </a:r>
            <a:r>
              <a:rPr i="1" lang="en">
                <a:solidFill>
                  <a:schemeClr val="dk1"/>
                </a:solidFill>
              </a:rPr>
              <a:t>Predictive Modelling and Patient Segmentation of Cardiovascular Outcomes Using MEPS Data</a:t>
            </a:r>
            <a:r>
              <a:rPr lang="en">
                <a:solidFill>
                  <a:schemeClr val="dk1"/>
                </a:solidFill>
              </a:rPr>
              <a:t>. This work was done by our team — Isaac Nyinaku, Neeti Shah, Hongru Chen and myself Maria Menendez</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5706a9825d_0_19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35706a9825d_0_19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Let's begin by outlining the structure of our presentation. First, I will walk you through the Introduction where we define our objectives. Following that, we will discuss the Data Preparation process. Then, we'll dive into the Exploratory Data Analysis (EDA) and Correlation Analysis to set the stage for our modeling techniques. The Predictive Modeling section will present the logistic regression used for stroke prediction. We will then evaluate the Model Performance and explore K-Means Clustering to segment patients based on cardiovascular conditions. Finally, we’ll discuss our Clustering Interpretation and conclude with key findings and future directions.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5706a9825d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5706a9825d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project focuses on two main objectives. First, we aim to predict the likelihood of stroke using various demographic and clinical indicators. This can help in identifying high-risk individuals who may benefit from early interventions. Second, K-Means clustering, to identify distinct patient subgroups based on shared patterns in cardiovascular disease, such as heart disease, stroke, and heart attack. By leveraging these techniques, we hope to provide actionable insights for healthcare interventions and resource allocation.</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5706a9825d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5706a9825d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We began with a large dataset containing 22,431 records and 1,400 variables. For our analysis, we focused on a subset of key features: demographic information like age, sex, race, region, and insurance status, along with four cardiovascular-related conditions—heart disease, angina, heart attack, and stroke.</a:t>
            </a:r>
            <a:endParaRPr/>
          </a:p>
          <a:p>
            <a:pPr indent="0" lvl="0" marL="0" rtl="0" algn="l">
              <a:lnSpc>
                <a:spcPct val="115000"/>
              </a:lnSpc>
              <a:spcBef>
                <a:spcPts val="1200"/>
              </a:spcBef>
              <a:spcAft>
                <a:spcPts val="1200"/>
              </a:spcAft>
              <a:buNone/>
            </a:pPr>
            <a:r>
              <a:rPr lang="en"/>
              <a:t>To prepare the data, we cleaned up missing values by assigning them the value of the median and standardized variable names, ensuring that the data was analysis-ready and easy to interpret.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5706a9825d_0_14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5706a9825d_0_14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We began our analysis with exploratory data analysis. This data included descriptive statistics, which revealed that the age distribution ranged from young children to older adults. The age variable, in particular, had a strong correlation with cardiovascular conditions. One of the first insights we gained was the relationship between stroke diagnosis and insurance status. We found that strokes were more common among individuals with public insurance compared to private insurance and the uninsured. This could indicate differences in healthcare access or care quality. We also visualized the age distribution, which showed peaks in three distinct age groups: children and adolescents, middle-aged adults, and older adults nearing retirement.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5706a9825d_0_14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5706a9825d_0_14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This slide provides a unified overview of both demographic and cardiovascular health distributions in our dataset.</a:t>
            </a:r>
            <a:endParaRPr>
              <a:solidFill>
                <a:schemeClr val="dk1"/>
              </a:solidFill>
            </a:endParaRPr>
          </a:p>
          <a:p>
            <a:pPr indent="0" lvl="0" marL="0" rtl="0" algn="l">
              <a:lnSpc>
                <a:spcPct val="115000"/>
              </a:lnSpc>
              <a:spcBef>
                <a:spcPts val="1200"/>
              </a:spcBef>
              <a:spcAft>
                <a:spcPts val="0"/>
              </a:spcAft>
              <a:buNone/>
            </a:pPr>
            <a:r>
              <a:rPr lang="en">
                <a:solidFill>
                  <a:schemeClr val="dk1"/>
                </a:solidFill>
              </a:rPr>
              <a:t>Starting with the </a:t>
            </a:r>
            <a:r>
              <a:rPr b="1" lang="en">
                <a:solidFill>
                  <a:schemeClr val="dk1"/>
                </a:solidFill>
              </a:rPr>
              <a:t>Sex</a:t>
            </a:r>
            <a:r>
              <a:rPr lang="en">
                <a:solidFill>
                  <a:schemeClr val="dk1"/>
                </a:solidFill>
              </a:rPr>
              <a:t> variable, we observe a fairly balanced representation of males and females.</a:t>
            </a:r>
            <a:endParaRPr>
              <a:solidFill>
                <a:schemeClr val="dk1"/>
              </a:solidFill>
            </a:endParaRPr>
          </a:p>
          <a:p>
            <a:pPr indent="0" lvl="0" marL="0" rtl="0" algn="l">
              <a:lnSpc>
                <a:spcPct val="115000"/>
              </a:lnSpc>
              <a:spcBef>
                <a:spcPts val="1200"/>
              </a:spcBef>
              <a:spcAft>
                <a:spcPts val="0"/>
              </a:spcAft>
              <a:buNone/>
            </a:pPr>
            <a:r>
              <a:rPr lang="en">
                <a:solidFill>
                  <a:schemeClr val="dk1"/>
                </a:solidFill>
              </a:rPr>
              <a:t>The </a:t>
            </a:r>
            <a:r>
              <a:rPr b="1" lang="en">
                <a:solidFill>
                  <a:schemeClr val="dk1"/>
                </a:solidFill>
              </a:rPr>
              <a:t>Race</a:t>
            </a:r>
            <a:r>
              <a:rPr lang="en">
                <a:solidFill>
                  <a:schemeClr val="dk1"/>
                </a:solidFill>
              </a:rPr>
              <a:t> distribution, however, is notably imbalanced. The White population forms a significant majority, with other racial groups like Black, Asian, Native, and Multiracial being underrepresented. This highlights a potential bias we need to be aware of when interpreting results and building models.</a:t>
            </a:r>
            <a:endParaRPr>
              <a:solidFill>
                <a:schemeClr val="dk1"/>
              </a:solidFill>
            </a:endParaRPr>
          </a:p>
          <a:p>
            <a:pPr indent="0" lvl="0" marL="0" rtl="0" algn="l">
              <a:lnSpc>
                <a:spcPct val="115000"/>
              </a:lnSpc>
              <a:spcBef>
                <a:spcPts val="1200"/>
              </a:spcBef>
              <a:spcAft>
                <a:spcPts val="0"/>
              </a:spcAft>
              <a:buNone/>
            </a:pPr>
            <a:r>
              <a:rPr lang="en">
                <a:solidFill>
                  <a:schemeClr val="dk1"/>
                </a:solidFill>
              </a:rPr>
              <a:t>Looking at </a:t>
            </a:r>
            <a:r>
              <a:rPr b="1" lang="en">
                <a:solidFill>
                  <a:schemeClr val="dk1"/>
                </a:solidFill>
              </a:rPr>
              <a:t>Region</a:t>
            </a:r>
            <a:r>
              <a:rPr lang="en">
                <a:solidFill>
                  <a:schemeClr val="dk1"/>
                </a:solidFill>
              </a:rPr>
              <a:t>, the South is the most represented region, followed by the Midwest, West, and Northeast. This suggests that geographic location may influence the sample characteristics.</a:t>
            </a:r>
            <a:endParaRPr>
              <a:solidFill>
                <a:schemeClr val="dk1"/>
              </a:solidFill>
            </a:endParaRPr>
          </a:p>
          <a:p>
            <a:pPr indent="0" lvl="0" marL="0" rtl="0" algn="l">
              <a:lnSpc>
                <a:spcPct val="115000"/>
              </a:lnSpc>
              <a:spcBef>
                <a:spcPts val="1200"/>
              </a:spcBef>
              <a:spcAft>
                <a:spcPts val="0"/>
              </a:spcAft>
              <a:buNone/>
            </a:pPr>
            <a:r>
              <a:rPr lang="en">
                <a:solidFill>
                  <a:schemeClr val="dk1"/>
                </a:solidFill>
              </a:rPr>
              <a:t>In terms of </a:t>
            </a:r>
            <a:r>
              <a:rPr b="1" lang="en">
                <a:solidFill>
                  <a:schemeClr val="dk1"/>
                </a:solidFill>
              </a:rPr>
              <a:t>Insurance Status</a:t>
            </a:r>
            <a:r>
              <a:rPr lang="en">
                <a:solidFill>
                  <a:schemeClr val="dk1"/>
                </a:solidFill>
              </a:rPr>
              <a:t>, most individuals are privately insured, followed by those with public insurance, and a smaller group that is uninsured. This could have meaningful implications for healthcare access and outcomes.</a:t>
            </a:r>
            <a:endParaRPr>
              <a:solidFill>
                <a:schemeClr val="dk1"/>
              </a:solidFill>
            </a:endParaRPr>
          </a:p>
          <a:p>
            <a:pPr indent="0" lvl="0" marL="0" rtl="0" algn="l">
              <a:lnSpc>
                <a:spcPct val="115000"/>
              </a:lnSpc>
              <a:spcBef>
                <a:spcPts val="1200"/>
              </a:spcBef>
              <a:spcAft>
                <a:spcPts val="0"/>
              </a:spcAft>
              <a:buNone/>
            </a:pPr>
            <a:r>
              <a:rPr lang="en">
                <a:solidFill>
                  <a:schemeClr val="dk1"/>
                </a:solidFill>
              </a:rPr>
              <a:t>Moving into the health condition variables, we see that most individuals reported </a:t>
            </a:r>
            <a:r>
              <a:rPr b="1" lang="en">
                <a:solidFill>
                  <a:schemeClr val="dk1"/>
                </a:solidFill>
              </a:rPr>
              <a:t>no diagnosis</a:t>
            </a:r>
            <a:r>
              <a:rPr lang="en">
                <a:solidFill>
                  <a:schemeClr val="dk1"/>
                </a:solidFill>
              </a:rPr>
              <a:t> for heart disease, angina, heart attack, and stroke.</a:t>
            </a:r>
            <a:endParaRPr>
              <a:solidFill>
                <a:schemeClr val="dk1"/>
              </a:solidFill>
            </a:endParaRPr>
          </a:p>
          <a:p>
            <a:pPr indent="0" lvl="0" marL="0" rtl="0" algn="l">
              <a:lnSpc>
                <a:spcPct val="115000"/>
              </a:lnSpc>
              <a:spcBef>
                <a:spcPts val="1200"/>
              </a:spcBef>
              <a:spcAft>
                <a:spcPts val="1200"/>
              </a:spcAft>
              <a:buNone/>
            </a:pPr>
            <a:r>
              <a:rPr lang="en">
                <a:solidFill>
                  <a:schemeClr val="dk1"/>
                </a:solidFill>
              </a:rPr>
              <a:t>However, there are still substantial counts for those diagnosed with these conditions, particularly for angina and heart attack.</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5706a9825d_0_14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5706a9825d_0_14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a:solidFill>
                  <a:schemeClr val="dk1"/>
                </a:solidFill>
              </a:rPr>
              <a:t>This heatmap illustrates the correlation matrix among our numeric variables. The key takeaway here is the strong positive correlation between age and all cardiovascular conditions. For example, age has a correlation of 0.66 with angina and 0.65 with heart attack.</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5706a9825d_0_15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5706a9825d_0_15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 shown in this chart, the age distribution skews older, which aligns with known risk factors for cardiovascular disease. This variable became a key input in our model due to its strong predictive value.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5706a9825d_0_14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5706a9825d_0_14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We developed two logistic regression models—one to predict stroke diagnosis, and the other to predict insurance coverage. These outcomes were selected to explore both clinical risk and healthcare access patterns using the available survey data.Before modeling, we cleaned the data using a custom filtering function. This step removed non-informative responses like “Don’t Know,” “Refused,” and “Inapplicable” from all disease-related variables, retaining only records with clear “Yes” or “No” answers. This ensured consistency and allowed us to treat each outcome as a binary classification task.For both models, we used the same set of predictors: age, sex, race, region, and the presence or absence of chronic conditions—specifically heart disease, angina, heart attack, and stroke (used as a predictor in the insurance model). After filtering, we split the dataset into training and testing sets using an 80/20 ratio and trained the logistic regression models accordingly.</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In the stroke prediction model, while the overall accuracy was 95%, the model failed to identify any stroke cases. The recall and precision for the positive class were both zero, and the AUC was only 0.20. This indicates that although the model predicted the majority class well, it was unable to distinguish stroke cases from non-cases. The root cause appears to be the extreme class imbalance—very few stroke cases existed in the data—and limited predictive power in the features available.</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051d9b5c64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051d9b5c64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In contrast, the insurance model performed better. We recoded the target into “insured” versus “uninsured” and used the same predictor set. The model achieved an AUC of 0.69 and performed well on the insured group. However, performance on the uninsured class was still weak, with low precision and recall. This is again due to imbalance—uninsured patients made up a small fraction of the data—and possibly due to missing socioeconomic predictors like income or employment.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5706a9825d_0_14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5706a9825d_0_14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Here, we present a scatter plot of Age vs. Insurance Status. This visualization shows the distribution of ages across three insurance categories: Private, Public, and Uninsured. The separation between these groups is clear, with Public insurance being more evenly distributed, while Private and Uninsured categories have more distinct age ranges. This information can help us understand how age influences insurance coverage and guide healthcare policy decisions.</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051d9b5c64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051d9b5c64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This scatter plot visualizes the clustering of patients based on heart disease severity and their insurance status. The K-Means clustering algorithm has segmented the patients into three distinct clusters. Cluster 0 represents individuals with minimal health issues, while Cluster 1 and Cluster 2 represent patients with varying severity of heart disease and insurance status. This segmentation helps in identifying high-risk patients who may require more focused care.</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051d9b5c64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051d9b5c64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This scatter plot represents the patient clustering with k=3 clusters. Each patient is grouped based on heart disease and stroke severity. The clusters show distinct health profiles. Cluster 0 has the lowest severity, while Cluster 2 has the highest, indicating severe cardiovascular conditions. By understanding these clusters, we can better allocate healthcare resources and identify which groups need urgent intervention.</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5706a9825d_0_15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5706a9825d_0_15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interpreted the clustering results by examining the characteristics of each group. The first cluster, representing healthy individuals, showed low scores across all cardiovascular conditions. The second cluster included high-risk patients with multiple comorbidities, including high prevalence of heart disease and stroke. The third cluster contained patients with moderate scores, potentially representing those in the early stages of cardiovascular issues or individuals with selective diagnoses. These segments provide valuable insights for targeting healthcare resources, such as prioritizing high-risk patients for early intervention.</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5706a9825d_0_15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5706a9825d_0_15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conclusion, our project demonstrated that predictive models for stroke, while informative, must address challenges like class imbalance to improve performance in identifying high-risk individuals. Additionally, patient segmentation via K-Means clustering offers a deeper understanding of disease burden and can aid in designing personalized healthcare interventions. Moving forward, we plan to refine our models by incorporating more granular features, such as behavioral data, and explore more sophisticated techniques like oversampling or ensemble models to improve predictive accuracy.</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5706a9825d_0_15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5706a9825d_0_15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These are the references we used for our project. This includes the MEPS website we used for data extraction.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Thank You.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125" y="0"/>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1" name="Google Shape;11;p2"/>
          <p:cNvSpPr txBox="1"/>
          <p:nvPr>
            <p:ph type="ctr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2" name="Google Shape;12;p2"/>
          <p:cNvSpPr txBox="1"/>
          <p:nvPr>
            <p:ph idx="1" type="subTitle"/>
          </p:nvPr>
        </p:nvSpPr>
        <p:spPr>
          <a:xfrm>
            <a:off x="311700" y="1878560"/>
            <a:ext cx="4242600" cy="7383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14" name="Shape 14"/>
        <p:cNvGrpSpPr/>
        <p:nvPr/>
      </p:nvGrpSpPr>
      <p:grpSpPr>
        <a:xfrm>
          <a:off x="0" y="0"/>
          <a:ext cx="0" cy="0"/>
          <a:chOff x="0" y="0"/>
          <a:chExt cx="0" cy="0"/>
        </a:xfrm>
      </p:grpSpPr>
      <p:sp>
        <p:nvSpPr>
          <p:cNvPr id="15" name="Google Shape;15;p3"/>
          <p:cNvSpPr/>
          <p:nvPr/>
        </p:nvSpPr>
        <p:spPr>
          <a:xfrm>
            <a:off x="0" y="48099"/>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17" name="Google Shape;17;p3"/>
          <p:cNvSpPr txBox="1"/>
          <p:nvPr>
            <p:ph type="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p:nvPr/>
        </p:nvSpPr>
        <p:spPr>
          <a:xfrm>
            <a:off x="0" y="44125"/>
            <a:ext cx="4313625" cy="4399375"/>
          </a:xfrm>
          <a:custGeom>
            <a:rect b="b" l="l" r="r" t="t"/>
            <a:pathLst>
              <a:path extrusionOk="0" h="175975" w="172545">
                <a:moveTo>
                  <a:pt x="0" y="157"/>
                </a:moveTo>
                <a:lnTo>
                  <a:pt x="172419" y="0"/>
                </a:lnTo>
                <a:lnTo>
                  <a:pt x="172545" y="126541"/>
                </a:lnTo>
                <a:lnTo>
                  <a:pt x="0" y="175975"/>
                </a:lnTo>
                <a:close/>
              </a:path>
            </a:pathLst>
          </a:custGeom>
          <a:solidFill>
            <a:schemeClr val="accent2"/>
          </a:solidFill>
          <a:ln>
            <a:noFill/>
          </a:ln>
        </p:spPr>
      </p:sp>
      <p:sp>
        <p:nvSpPr>
          <p:cNvPr id="22" name="Google Shape;22;p4"/>
          <p:cNvSpPr/>
          <p:nvPr/>
        </p:nvSpPr>
        <p:spPr>
          <a:xfrm>
            <a:off x="-125" y="0"/>
            <a:ext cx="4316900" cy="4395600"/>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23" name="Google Shape;23;p4"/>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4" name="Google Shape;24;p4"/>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6" name="Shape 26"/>
        <p:cNvGrpSpPr/>
        <p:nvPr/>
      </p:nvGrpSpPr>
      <p:grpSpPr>
        <a:xfrm>
          <a:off x="0" y="0"/>
          <a:ext cx="0" cy="0"/>
          <a:chOff x="0" y="0"/>
          <a:chExt cx="0" cy="0"/>
        </a:xfrm>
      </p:grpSpPr>
      <p:sp>
        <p:nvSpPr>
          <p:cNvPr id="27" name="Google Shape;27;p5"/>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5"/>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9" name="Google Shape;29;p5"/>
          <p:cNvSpPr txBox="1"/>
          <p:nvPr>
            <p:ph idx="1" type="body"/>
          </p:nvPr>
        </p:nvSpPr>
        <p:spPr>
          <a:xfrm>
            <a:off x="311700" y="1505700"/>
            <a:ext cx="3999900" cy="3076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5"/>
          <p:cNvSpPr txBox="1"/>
          <p:nvPr>
            <p:ph idx="2" type="body"/>
          </p:nvPr>
        </p:nvSpPr>
        <p:spPr>
          <a:xfrm>
            <a:off x="4832400" y="1505700"/>
            <a:ext cx="3999900" cy="3076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1" name="Google Shape;31;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 name="Shape 32"/>
        <p:cNvGrpSpPr/>
        <p:nvPr/>
      </p:nvGrpSpPr>
      <p:grpSpPr>
        <a:xfrm>
          <a:off x="0" y="0"/>
          <a:ext cx="0" cy="0"/>
          <a:chOff x="0" y="0"/>
          <a:chExt cx="0" cy="0"/>
        </a:xfrm>
      </p:grpSpPr>
      <p:sp>
        <p:nvSpPr>
          <p:cNvPr id="33" name="Google Shape;33;p6"/>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5" name="Google Shape;3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p:nvPr/>
        </p:nvSpPr>
        <p:spPr>
          <a:xfrm>
            <a:off x="0" y="0"/>
            <a:ext cx="37644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txBox="1"/>
          <p:nvPr>
            <p:ph type="title"/>
          </p:nvPr>
        </p:nvSpPr>
        <p:spPr>
          <a:xfrm>
            <a:off x="311725" y="500925"/>
            <a:ext cx="3127500" cy="18291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9" name="Google Shape;39;p7"/>
          <p:cNvSpPr txBox="1"/>
          <p:nvPr>
            <p:ph idx="1" type="body"/>
          </p:nvPr>
        </p:nvSpPr>
        <p:spPr>
          <a:xfrm>
            <a:off x="311700" y="2390650"/>
            <a:ext cx="3127500" cy="229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40" name="Google Shape;40;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41" name="Shape 41"/>
        <p:cNvGrpSpPr/>
        <p:nvPr/>
      </p:nvGrpSpPr>
      <p:grpSpPr>
        <a:xfrm>
          <a:off x="0" y="0"/>
          <a:ext cx="0" cy="0"/>
          <a:chOff x="0" y="0"/>
          <a:chExt cx="0" cy="0"/>
        </a:xfrm>
      </p:grpSpPr>
      <p:sp>
        <p:nvSpPr>
          <p:cNvPr id="42" name="Google Shape;42;p8"/>
          <p:cNvSpPr txBox="1"/>
          <p:nvPr>
            <p:ph type="title"/>
          </p:nvPr>
        </p:nvSpPr>
        <p:spPr>
          <a:xfrm>
            <a:off x="311675" y="798600"/>
            <a:ext cx="6247800" cy="3546300"/>
          </a:xfrm>
          <a:prstGeom prst="rect">
            <a:avLst/>
          </a:prstGeom>
        </p:spPr>
        <p:txBody>
          <a:bodyPr anchorCtr="0" anchor="ctr"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43" name="Google Shape;43;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4" name="Shape 44"/>
        <p:cNvGrpSpPr/>
        <p:nvPr/>
      </p:nvGrpSpPr>
      <p:grpSpPr>
        <a:xfrm>
          <a:off x="0" y="0"/>
          <a:ext cx="0" cy="0"/>
          <a:chOff x="0" y="0"/>
          <a:chExt cx="0" cy="0"/>
        </a:xfrm>
      </p:grpSpPr>
      <p:sp>
        <p:nvSpPr>
          <p:cNvPr id="45" name="Google Shape;45;p9"/>
          <p:cNvSpPr/>
          <p:nvPr/>
        </p:nvSpPr>
        <p:spPr>
          <a:xfrm>
            <a:off x="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9"/>
          <p:cNvSpPr txBox="1"/>
          <p:nvPr>
            <p:ph type="title"/>
          </p:nvPr>
        </p:nvSpPr>
        <p:spPr>
          <a:xfrm>
            <a:off x="311300" y="500925"/>
            <a:ext cx="3704400" cy="2049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47" name="Google Shape;47;p9"/>
          <p:cNvSpPr txBox="1"/>
          <p:nvPr>
            <p:ph idx="1" type="subTitle"/>
          </p:nvPr>
        </p:nvSpPr>
        <p:spPr>
          <a:xfrm>
            <a:off x="304800" y="2626725"/>
            <a:ext cx="3704400" cy="9267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p:txBody>
      </p:sp>
      <p:sp>
        <p:nvSpPr>
          <p:cNvPr id="48" name="Google Shape;48;p9"/>
          <p:cNvSpPr txBox="1"/>
          <p:nvPr>
            <p:ph idx="2" type="body"/>
          </p:nvPr>
        </p:nvSpPr>
        <p:spPr>
          <a:xfrm>
            <a:off x="4879025" y="500925"/>
            <a:ext cx="3954000" cy="4111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9" name="Google Shape;49;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0" name="Shape 50"/>
        <p:cNvGrpSpPr/>
        <p:nvPr/>
      </p:nvGrpSpPr>
      <p:grpSpPr>
        <a:xfrm>
          <a:off x="0" y="0"/>
          <a:ext cx="0" cy="0"/>
          <a:chOff x="0" y="0"/>
          <a:chExt cx="0" cy="0"/>
        </a:xfrm>
      </p:grpSpPr>
      <p:sp>
        <p:nvSpPr>
          <p:cNvPr id="51" name="Google Shape;51;p10"/>
          <p:cNvSpPr/>
          <p:nvPr/>
        </p:nvSpPr>
        <p:spPr>
          <a:xfrm>
            <a:off x="0" y="4369000"/>
            <a:ext cx="9144000" cy="774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10"/>
          <p:cNvSpPr txBox="1"/>
          <p:nvPr>
            <p:ph idx="1" type="body"/>
          </p:nvPr>
        </p:nvSpPr>
        <p:spPr>
          <a:xfrm>
            <a:off x="311700" y="4521400"/>
            <a:ext cx="7979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p:txBody>
      </p:sp>
      <p:sp>
        <p:nvSpPr>
          <p:cNvPr id="53" name="Google Shape;5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54" name="Shape 54"/>
        <p:cNvGrpSpPr/>
        <p:nvPr/>
      </p:nvGrpSpPr>
      <p:grpSpPr>
        <a:xfrm>
          <a:off x="0" y="0"/>
          <a:ext cx="0" cy="0"/>
          <a:chOff x="0" y="0"/>
          <a:chExt cx="0" cy="0"/>
        </a:xfrm>
      </p:grpSpPr>
      <p:sp>
        <p:nvSpPr>
          <p:cNvPr id="55" name="Google Shape;55;p11"/>
          <p:cNvSpPr txBox="1"/>
          <p:nvPr>
            <p:ph hasCustomPrompt="1" type="title"/>
          </p:nvPr>
        </p:nvSpPr>
        <p:spPr>
          <a:xfrm>
            <a:off x="311750" y="831175"/>
            <a:ext cx="5334900" cy="12447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56" name="Google Shape;56;p11"/>
          <p:cNvSpPr txBox="1"/>
          <p:nvPr>
            <p:ph idx="1" type="body"/>
          </p:nvPr>
        </p:nvSpPr>
        <p:spPr>
          <a:xfrm>
            <a:off x="311700" y="2121425"/>
            <a:ext cx="5334900" cy="942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57" name="Google Shape;5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8" name="Shape 58"/>
        <p:cNvGrpSpPr/>
        <p:nvPr/>
      </p:nvGrpSpPr>
      <p:grpSpPr>
        <a:xfrm>
          <a:off x="0" y="0"/>
          <a:ext cx="0" cy="0"/>
          <a:chOff x="0" y="0"/>
          <a:chExt cx="0" cy="0"/>
        </a:xfrm>
      </p:grpSpPr>
      <p:sp>
        <p:nvSpPr>
          <p:cNvPr id="59" name="Google Shape;5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indent="-298450" lvl="1" marL="914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indent="-298450" lvl="2" marL="1371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indent="-298450" lvl="3" marL="1828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indent="-298450" lvl="4" marL="22860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indent="-298450" lvl="5" marL="27432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indent="-298450" lvl="6" marL="3200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indent="-298450" lvl="7" marL="3657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indent="-298450" lvl="8" marL="4114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comments" Target="../comments/commen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comments" Target="../comments/commen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comments" Target="../comments/commen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comments" Target="../comments/commen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comments" Target="../comments/comment5.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comments" Target="../comments/comment6.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comments" Target="../comments/comment7.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comments" Target="../comments/comment8.xml"/><Relationship Id="rId4" Type="http://schemas.openxmlformats.org/officeDocument/2006/relationships/image" Target="../media/image2.png"/><Relationship Id="rId5"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3"/>
          <p:cNvSpPr txBox="1"/>
          <p:nvPr>
            <p:ph type="ctrTitle"/>
          </p:nvPr>
        </p:nvSpPr>
        <p:spPr>
          <a:xfrm>
            <a:off x="530950" y="471950"/>
            <a:ext cx="7475700" cy="187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880"/>
              <a:t>Predictive Modelling and Patient Segmentation of Cardiovascular Outcomes Using MEPS Data </a:t>
            </a:r>
            <a:endParaRPr sz="3880"/>
          </a:p>
        </p:txBody>
      </p:sp>
      <p:sp>
        <p:nvSpPr>
          <p:cNvPr id="65" name="Google Shape;65;p13"/>
          <p:cNvSpPr txBox="1"/>
          <p:nvPr>
            <p:ph idx="1" type="subTitle"/>
          </p:nvPr>
        </p:nvSpPr>
        <p:spPr>
          <a:xfrm>
            <a:off x="2024400" y="3326575"/>
            <a:ext cx="6224700" cy="7383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chemeClr val="dk1"/>
              </a:buClr>
              <a:buSzPts val="1100"/>
              <a:buFont typeface="Arial"/>
              <a:buNone/>
            </a:pPr>
            <a:r>
              <a:rPr lang="en" sz="1200">
                <a:solidFill>
                  <a:schemeClr val="lt1"/>
                </a:solidFill>
              </a:rPr>
              <a:t>Capstone Project Presentation for ALY 6140</a:t>
            </a:r>
            <a:br>
              <a:rPr lang="en" sz="1200">
                <a:solidFill>
                  <a:schemeClr val="lt1"/>
                </a:solidFill>
              </a:rPr>
            </a:br>
            <a:endParaRPr sz="1200">
              <a:solidFill>
                <a:schemeClr val="lt1"/>
              </a:solidFill>
            </a:endParaRPr>
          </a:p>
          <a:p>
            <a:pPr indent="0" lvl="0" marL="0" rtl="0" algn="r">
              <a:spcBef>
                <a:spcPts val="0"/>
              </a:spcBef>
              <a:spcAft>
                <a:spcPts val="0"/>
              </a:spcAft>
              <a:buClr>
                <a:schemeClr val="dk1"/>
              </a:buClr>
              <a:buSzPts val="1100"/>
              <a:buFont typeface="Arial"/>
              <a:buNone/>
            </a:pPr>
            <a:r>
              <a:rPr b="1" lang="en" sz="1200">
                <a:solidFill>
                  <a:schemeClr val="lt1"/>
                </a:solidFill>
              </a:rPr>
              <a:t>Team Members</a:t>
            </a:r>
            <a:r>
              <a:rPr lang="en" sz="1200">
                <a:solidFill>
                  <a:schemeClr val="lt1"/>
                </a:solidFill>
              </a:rPr>
              <a:t>: Isaac Nyinaku, Neeti Shah, Maria Menendez, </a:t>
            </a:r>
            <a:r>
              <a:rPr lang="en" sz="1200">
                <a:solidFill>
                  <a:schemeClr val="lt1"/>
                </a:solidFill>
              </a:rPr>
              <a:t>Hongru</a:t>
            </a:r>
            <a:r>
              <a:rPr lang="en" sz="1200">
                <a:solidFill>
                  <a:schemeClr val="lt1"/>
                </a:solidFill>
              </a:rPr>
              <a:t> Chen</a:t>
            </a:r>
            <a:br>
              <a:rPr lang="en" sz="1200">
                <a:solidFill>
                  <a:schemeClr val="lt1"/>
                </a:solidFill>
              </a:rPr>
            </a:br>
            <a:endParaRPr sz="1200">
              <a:solidFill>
                <a:schemeClr val="lt1"/>
              </a:solidFill>
            </a:endParaRPr>
          </a:p>
          <a:p>
            <a:pPr indent="0" lvl="0" marL="0" rtl="0" algn="r">
              <a:spcBef>
                <a:spcPts val="0"/>
              </a:spcBef>
              <a:spcAft>
                <a:spcPts val="0"/>
              </a:spcAft>
              <a:buClr>
                <a:schemeClr val="dk1"/>
              </a:buClr>
              <a:buSzPts val="1100"/>
              <a:buFont typeface="Arial"/>
              <a:buNone/>
            </a:pPr>
            <a:r>
              <a:rPr b="1" lang="en" sz="1200">
                <a:solidFill>
                  <a:schemeClr val="lt1"/>
                </a:solidFill>
              </a:rPr>
              <a:t>Professor</a:t>
            </a:r>
            <a:r>
              <a:rPr lang="en" sz="1200">
                <a:solidFill>
                  <a:schemeClr val="lt1"/>
                </a:solidFill>
              </a:rPr>
              <a:t>: Zhi He</a:t>
            </a:r>
            <a:br>
              <a:rPr lang="en" sz="1200">
                <a:solidFill>
                  <a:schemeClr val="lt1"/>
                </a:solidFill>
              </a:rPr>
            </a:br>
            <a:endParaRPr sz="1200">
              <a:solidFill>
                <a:schemeClr val="lt1"/>
              </a:solidFill>
            </a:endParaRPr>
          </a:p>
          <a:p>
            <a:pPr indent="0" lvl="0" marL="0" rtl="0" algn="r">
              <a:spcBef>
                <a:spcPts val="0"/>
              </a:spcBef>
              <a:spcAft>
                <a:spcPts val="0"/>
              </a:spcAft>
              <a:buNone/>
            </a:pPr>
            <a:r>
              <a:rPr b="1" lang="en" sz="1200">
                <a:solidFill>
                  <a:schemeClr val="lt1"/>
                </a:solidFill>
              </a:rPr>
              <a:t>Date</a:t>
            </a:r>
            <a:r>
              <a:rPr lang="en" sz="1200">
                <a:solidFill>
                  <a:schemeClr val="lt1"/>
                </a:solidFill>
              </a:rPr>
              <a:t>: May 12, 2025</a:t>
            </a:r>
            <a:endParaRPr sz="1200">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4"/>
          <p:cNvSpPr txBox="1"/>
          <p:nvPr>
            <p:ph type="title"/>
          </p:nvPr>
        </p:nvSpPr>
        <p:spPr>
          <a:xfrm>
            <a:off x="311725" y="500925"/>
            <a:ext cx="3706500" cy="62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950"/>
              <a:t>Table of Contents </a:t>
            </a:r>
            <a:endParaRPr sz="2950"/>
          </a:p>
        </p:txBody>
      </p:sp>
      <p:sp>
        <p:nvSpPr>
          <p:cNvPr id="71" name="Google Shape;71;p14"/>
          <p:cNvSpPr txBox="1"/>
          <p:nvPr>
            <p:ph idx="1" type="body"/>
          </p:nvPr>
        </p:nvSpPr>
        <p:spPr>
          <a:xfrm>
            <a:off x="4644675" y="500925"/>
            <a:ext cx="4166400" cy="4098600"/>
          </a:xfrm>
          <a:prstGeom prst="rect">
            <a:avLst/>
          </a:prstGeom>
        </p:spPr>
        <p:txBody>
          <a:bodyPr anchorCtr="0" anchor="t" bIns="91425" lIns="91425" spcFirstLastPara="1" rIns="91425" wrap="square" tIns="91425">
            <a:noAutofit/>
          </a:bodyPr>
          <a:lstStyle/>
          <a:p>
            <a:pPr indent="-346075" lvl="0" marL="457200" rtl="0" algn="l">
              <a:spcBef>
                <a:spcPts val="0"/>
              </a:spcBef>
              <a:spcAft>
                <a:spcPts val="0"/>
              </a:spcAft>
              <a:buClr>
                <a:schemeClr val="dk1"/>
              </a:buClr>
              <a:buSzPts val="1850"/>
              <a:buAutoNum type="arabicPeriod"/>
            </a:pPr>
            <a:r>
              <a:rPr lang="en" sz="1850">
                <a:solidFill>
                  <a:schemeClr val="dk1"/>
                </a:solidFill>
              </a:rPr>
              <a:t>Introduction</a:t>
            </a:r>
            <a:endParaRPr sz="1850">
              <a:solidFill>
                <a:schemeClr val="dk1"/>
              </a:solidFill>
            </a:endParaRPr>
          </a:p>
          <a:p>
            <a:pPr indent="-346075" lvl="0" marL="457200" rtl="0" algn="l">
              <a:spcBef>
                <a:spcPts val="0"/>
              </a:spcBef>
              <a:spcAft>
                <a:spcPts val="0"/>
              </a:spcAft>
              <a:buClr>
                <a:schemeClr val="dk1"/>
              </a:buClr>
              <a:buSzPts val="1850"/>
              <a:buAutoNum type="arabicPeriod"/>
            </a:pPr>
            <a:r>
              <a:rPr lang="en" sz="1850">
                <a:solidFill>
                  <a:schemeClr val="dk1"/>
                </a:solidFill>
              </a:rPr>
              <a:t>Data Preparation</a:t>
            </a:r>
            <a:endParaRPr sz="1850">
              <a:solidFill>
                <a:schemeClr val="dk1"/>
              </a:solidFill>
            </a:endParaRPr>
          </a:p>
          <a:p>
            <a:pPr indent="-346075" lvl="0" marL="457200" rtl="0" algn="l">
              <a:spcBef>
                <a:spcPts val="0"/>
              </a:spcBef>
              <a:spcAft>
                <a:spcPts val="0"/>
              </a:spcAft>
              <a:buClr>
                <a:schemeClr val="dk1"/>
              </a:buClr>
              <a:buSzPts val="1850"/>
              <a:buAutoNum type="arabicPeriod"/>
            </a:pPr>
            <a:r>
              <a:rPr lang="en" sz="1850">
                <a:solidFill>
                  <a:schemeClr val="dk1"/>
                </a:solidFill>
              </a:rPr>
              <a:t>Exploratory Data Analysis (EDA)</a:t>
            </a:r>
            <a:endParaRPr sz="1850">
              <a:solidFill>
                <a:schemeClr val="dk1"/>
              </a:solidFill>
            </a:endParaRPr>
          </a:p>
          <a:p>
            <a:pPr indent="-346075" lvl="0" marL="457200" rtl="0" algn="l">
              <a:spcBef>
                <a:spcPts val="0"/>
              </a:spcBef>
              <a:spcAft>
                <a:spcPts val="0"/>
              </a:spcAft>
              <a:buClr>
                <a:schemeClr val="dk1"/>
              </a:buClr>
              <a:buSzPts val="1850"/>
              <a:buAutoNum type="arabicPeriod"/>
            </a:pPr>
            <a:r>
              <a:rPr lang="en" sz="1850">
                <a:solidFill>
                  <a:schemeClr val="dk1"/>
                </a:solidFill>
              </a:rPr>
              <a:t>Correlation Analysis</a:t>
            </a:r>
            <a:endParaRPr sz="1850">
              <a:solidFill>
                <a:schemeClr val="dk1"/>
              </a:solidFill>
            </a:endParaRPr>
          </a:p>
          <a:p>
            <a:pPr indent="-346075" lvl="0" marL="457200" rtl="0" algn="l">
              <a:spcBef>
                <a:spcPts val="0"/>
              </a:spcBef>
              <a:spcAft>
                <a:spcPts val="0"/>
              </a:spcAft>
              <a:buClr>
                <a:schemeClr val="dk1"/>
              </a:buClr>
              <a:buSzPts val="1850"/>
              <a:buAutoNum type="arabicPeriod"/>
            </a:pPr>
            <a:r>
              <a:rPr lang="en" sz="1850">
                <a:solidFill>
                  <a:schemeClr val="dk1"/>
                </a:solidFill>
              </a:rPr>
              <a:t>Predictive Modeling</a:t>
            </a:r>
            <a:endParaRPr sz="1850">
              <a:solidFill>
                <a:schemeClr val="dk1"/>
              </a:solidFill>
            </a:endParaRPr>
          </a:p>
          <a:p>
            <a:pPr indent="-346075" lvl="0" marL="457200" rtl="0" algn="l">
              <a:spcBef>
                <a:spcPts val="0"/>
              </a:spcBef>
              <a:spcAft>
                <a:spcPts val="0"/>
              </a:spcAft>
              <a:buClr>
                <a:schemeClr val="dk1"/>
              </a:buClr>
              <a:buSzPts val="1850"/>
              <a:buAutoNum type="arabicPeriod"/>
            </a:pPr>
            <a:r>
              <a:rPr lang="en" sz="1850">
                <a:solidFill>
                  <a:schemeClr val="dk1"/>
                </a:solidFill>
              </a:rPr>
              <a:t>ROC Curve</a:t>
            </a:r>
            <a:endParaRPr sz="1850">
              <a:solidFill>
                <a:schemeClr val="dk1"/>
              </a:solidFill>
            </a:endParaRPr>
          </a:p>
          <a:p>
            <a:pPr indent="-346075" lvl="0" marL="457200" rtl="0" algn="l">
              <a:spcBef>
                <a:spcPts val="0"/>
              </a:spcBef>
              <a:spcAft>
                <a:spcPts val="0"/>
              </a:spcAft>
              <a:buClr>
                <a:schemeClr val="dk1"/>
              </a:buClr>
              <a:buSzPts val="1850"/>
              <a:buAutoNum type="arabicPeriod"/>
            </a:pPr>
            <a:r>
              <a:rPr lang="en" sz="1850">
                <a:solidFill>
                  <a:schemeClr val="dk1"/>
                </a:solidFill>
              </a:rPr>
              <a:t>Model Performance</a:t>
            </a:r>
            <a:endParaRPr sz="1850">
              <a:solidFill>
                <a:schemeClr val="dk1"/>
              </a:solidFill>
            </a:endParaRPr>
          </a:p>
          <a:p>
            <a:pPr indent="-346075" lvl="0" marL="457200" rtl="0" algn="l">
              <a:spcBef>
                <a:spcPts val="0"/>
              </a:spcBef>
              <a:spcAft>
                <a:spcPts val="0"/>
              </a:spcAft>
              <a:buClr>
                <a:schemeClr val="dk1"/>
              </a:buClr>
              <a:buSzPts val="1850"/>
              <a:buAutoNum type="arabicPeriod"/>
            </a:pPr>
            <a:r>
              <a:rPr lang="en" sz="1850">
                <a:solidFill>
                  <a:schemeClr val="dk1"/>
                </a:solidFill>
              </a:rPr>
              <a:t>K-Means Clustering for Patient Segmentation</a:t>
            </a:r>
            <a:endParaRPr sz="1850">
              <a:solidFill>
                <a:schemeClr val="dk1"/>
              </a:solidFill>
            </a:endParaRPr>
          </a:p>
          <a:p>
            <a:pPr indent="-346075" lvl="0" marL="457200" rtl="0" algn="l">
              <a:spcBef>
                <a:spcPts val="0"/>
              </a:spcBef>
              <a:spcAft>
                <a:spcPts val="0"/>
              </a:spcAft>
              <a:buClr>
                <a:schemeClr val="dk1"/>
              </a:buClr>
              <a:buSzPts val="1850"/>
              <a:buAutoNum type="arabicPeriod"/>
            </a:pPr>
            <a:r>
              <a:rPr lang="en" sz="1850">
                <a:solidFill>
                  <a:schemeClr val="dk1"/>
                </a:solidFill>
              </a:rPr>
              <a:t>Clustering Interpretation</a:t>
            </a:r>
            <a:endParaRPr sz="1850">
              <a:solidFill>
                <a:schemeClr val="dk1"/>
              </a:solidFill>
            </a:endParaRPr>
          </a:p>
          <a:p>
            <a:pPr indent="-346075" lvl="0" marL="457200" rtl="0" algn="l">
              <a:spcBef>
                <a:spcPts val="0"/>
              </a:spcBef>
              <a:spcAft>
                <a:spcPts val="0"/>
              </a:spcAft>
              <a:buClr>
                <a:schemeClr val="dk1"/>
              </a:buClr>
              <a:buSzPts val="1850"/>
              <a:buAutoNum type="arabicPeriod"/>
            </a:pPr>
            <a:r>
              <a:rPr lang="en" sz="1850">
                <a:solidFill>
                  <a:schemeClr val="dk1"/>
                </a:solidFill>
              </a:rPr>
              <a:t>Conclusions</a:t>
            </a:r>
            <a:endParaRPr sz="185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5"/>
          <p:cNvSpPr txBox="1"/>
          <p:nvPr>
            <p:ph type="title"/>
          </p:nvPr>
        </p:nvSpPr>
        <p:spPr>
          <a:xfrm>
            <a:off x="311725" y="500925"/>
            <a:ext cx="3706500" cy="60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950"/>
              <a:t>Introduction</a:t>
            </a:r>
            <a:endParaRPr sz="2950"/>
          </a:p>
        </p:txBody>
      </p:sp>
      <p:sp>
        <p:nvSpPr>
          <p:cNvPr id="77" name="Google Shape;77;p15"/>
          <p:cNvSpPr txBox="1"/>
          <p:nvPr>
            <p:ph idx="1" type="body"/>
          </p:nvPr>
        </p:nvSpPr>
        <p:spPr>
          <a:xfrm>
            <a:off x="4644675" y="1707300"/>
            <a:ext cx="4166400" cy="1728900"/>
          </a:xfrm>
          <a:prstGeom prst="rect">
            <a:avLst/>
          </a:prstGeom>
        </p:spPr>
        <p:txBody>
          <a:bodyPr anchorCtr="0" anchor="t" bIns="91425" lIns="91425" spcFirstLastPara="1" rIns="91425" wrap="square" tIns="91425">
            <a:normAutofit lnSpcReduction="10000"/>
          </a:bodyPr>
          <a:lstStyle/>
          <a:p>
            <a:pPr indent="-346075" lvl="0" marL="457200" rtl="0" algn="l">
              <a:spcBef>
                <a:spcPts val="800"/>
              </a:spcBef>
              <a:spcAft>
                <a:spcPts val="0"/>
              </a:spcAft>
              <a:buClr>
                <a:schemeClr val="dk1"/>
              </a:buClr>
              <a:buSzPts val="1850"/>
              <a:buChar char="●"/>
            </a:pPr>
            <a:r>
              <a:rPr lang="en" sz="1850">
                <a:solidFill>
                  <a:schemeClr val="dk1"/>
                </a:solidFill>
              </a:rPr>
              <a:t>Predicting stroke likelihood</a:t>
            </a:r>
            <a:endParaRPr sz="1850">
              <a:solidFill>
                <a:schemeClr val="dk1"/>
              </a:solidFill>
            </a:endParaRPr>
          </a:p>
          <a:p>
            <a:pPr indent="-346075" lvl="0" marL="457200" rtl="0" algn="l">
              <a:spcBef>
                <a:spcPts val="0"/>
              </a:spcBef>
              <a:spcAft>
                <a:spcPts val="0"/>
              </a:spcAft>
              <a:buClr>
                <a:schemeClr val="dk1"/>
              </a:buClr>
              <a:buSzPts val="1850"/>
              <a:buChar char="●"/>
            </a:pPr>
            <a:r>
              <a:rPr lang="en" sz="1850">
                <a:solidFill>
                  <a:schemeClr val="dk1"/>
                </a:solidFill>
              </a:rPr>
              <a:t>Identifying patient subgroups using unsupervised learning</a:t>
            </a:r>
            <a:endParaRPr sz="1850">
              <a:solidFill>
                <a:schemeClr val="dk1"/>
              </a:solidFill>
            </a:endParaRPr>
          </a:p>
          <a:p>
            <a:pPr indent="-346075" lvl="0" marL="457200" rtl="0" algn="l">
              <a:spcBef>
                <a:spcPts val="0"/>
              </a:spcBef>
              <a:spcAft>
                <a:spcPts val="0"/>
              </a:spcAft>
              <a:buClr>
                <a:schemeClr val="dk1"/>
              </a:buClr>
              <a:buSzPts val="1850"/>
              <a:buChar char="●"/>
            </a:pPr>
            <a:r>
              <a:rPr lang="en" sz="1850">
                <a:solidFill>
                  <a:schemeClr val="dk1"/>
                </a:solidFill>
              </a:rPr>
              <a:t>Implications for healthcare interventions</a:t>
            </a:r>
            <a:endParaRPr sz="185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6"/>
          <p:cNvSpPr txBox="1"/>
          <p:nvPr>
            <p:ph type="title"/>
          </p:nvPr>
        </p:nvSpPr>
        <p:spPr>
          <a:xfrm>
            <a:off x="311725" y="500925"/>
            <a:ext cx="3706500" cy="66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950"/>
              <a:t>Data Preparation </a:t>
            </a:r>
            <a:endParaRPr sz="2950"/>
          </a:p>
        </p:txBody>
      </p:sp>
      <p:sp>
        <p:nvSpPr>
          <p:cNvPr id="83" name="Google Shape;83;p16"/>
          <p:cNvSpPr txBox="1"/>
          <p:nvPr>
            <p:ph idx="1" type="body"/>
          </p:nvPr>
        </p:nvSpPr>
        <p:spPr>
          <a:xfrm>
            <a:off x="4654775" y="1027800"/>
            <a:ext cx="4166400" cy="2173500"/>
          </a:xfrm>
          <a:prstGeom prst="rect">
            <a:avLst/>
          </a:prstGeom>
        </p:spPr>
        <p:txBody>
          <a:bodyPr anchorCtr="0" anchor="t" bIns="91425" lIns="91425" spcFirstLastPara="1" rIns="91425" wrap="square" tIns="91425">
            <a:noAutofit/>
          </a:bodyPr>
          <a:lstStyle/>
          <a:p>
            <a:pPr indent="-346075" lvl="0" marL="457200" marR="0" rtl="0" algn="l">
              <a:lnSpc>
                <a:spcPct val="105000"/>
              </a:lnSpc>
              <a:spcBef>
                <a:spcPts val="800"/>
              </a:spcBef>
              <a:spcAft>
                <a:spcPts val="0"/>
              </a:spcAft>
              <a:buClr>
                <a:schemeClr val="dk1"/>
              </a:buClr>
              <a:buSzPts val="1850"/>
              <a:buChar char="●"/>
            </a:pPr>
            <a:r>
              <a:rPr lang="en" sz="1850">
                <a:solidFill>
                  <a:schemeClr val="dk1"/>
                </a:solidFill>
              </a:rPr>
              <a:t>Dataset Overview: 22,431 records, 1,400 variables</a:t>
            </a:r>
            <a:endParaRPr sz="1850">
              <a:solidFill>
                <a:schemeClr val="dk1"/>
              </a:solidFill>
            </a:endParaRPr>
          </a:p>
          <a:p>
            <a:pPr indent="-346075" lvl="0" marL="457200" marR="0" rtl="0" algn="l">
              <a:lnSpc>
                <a:spcPct val="105000"/>
              </a:lnSpc>
              <a:spcBef>
                <a:spcPts val="0"/>
              </a:spcBef>
              <a:spcAft>
                <a:spcPts val="0"/>
              </a:spcAft>
              <a:buClr>
                <a:schemeClr val="dk1"/>
              </a:buClr>
              <a:buSzPts val="1850"/>
              <a:buChar char="●"/>
            </a:pPr>
            <a:r>
              <a:rPr lang="en" sz="1850">
                <a:solidFill>
                  <a:schemeClr val="dk1"/>
                </a:solidFill>
              </a:rPr>
              <a:t>Features: </a:t>
            </a:r>
            <a:r>
              <a:rPr lang="en" sz="1850">
                <a:solidFill>
                  <a:schemeClr val="dk1"/>
                </a:solidFill>
              </a:rPr>
              <a:t>age, sex, race, region, insurance status, and four cardiovascular-related conditions—heart disease, angina, heart attack, and stroke</a:t>
            </a:r>
            <a:endParaRPr sz="1850">
              <a:solidFill>
                <a:schemeClr val="dk1"/>
              </a:solidFill>
            </a:endParaRPr>
          </a:p>
          <a:p>
            <a:pPr indent="-346075" lvl="0" marL="457200" marR="0" rtl="0" algn="l">
              <a:lnSpc>
                <a:spcPct val="105000"/>
              </a:lnSpc>
              <a:spcBef>
                <a:spcPts val="0"/>
              </a:spcBef>
              <a:spcAft>
                <a:spcPts val="0"/>
              </a:spcAft>
              <a:buClr>
                <a:schemeClr val="dk1"/>
              </a:buClr>
              <a:buSzPts val="1850"/>
              <a:buChar char="●"/>
            </a:pPr>
            <a:r>
              <a:rPr lang="en" sz="1850">
                <a:solidFill>
                  <a:schemeClr val="dk1"/>
                </a:solidFill>
              </a:rPr>
              <a:t>Data Cleaning: Handling missing values and variable renaming</a:t>
            </a:r>
            <a:endParaRPr sz="185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7"/>
          <p:cNvSpPr txBox="1"/>
          <p:nvPr>
            <p:ph type="title"/>
          </p:nvPr>
        </p:nvSpPr>
        <p:spPr>
          <a:xfrm>
            <a:off x="311725" y="500925"/>
            <a:ext cx="3706500" cy="1116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950"/>
              <a:t>Exploratory Data Analysis (EDA)</a:t>
            </a:r>
            <a:endParaRPr sz="2950"/>
          </a:p>
        </p:txBody>
      </p:sp>
      <p:sp>
        <p:nvSpPr>
          <p:cNvPr id="89" name="Google Shape;89;p17"/>
          <p:cNvSpPr txBox="1"/>
          <p:nvPr>
            <p:ph idx="1" type="body"/>
          </p:nvPr>
        </p:nvSpPr>
        <p:spPr>
          <a:xfrm>
            <a:off x="311725" y="1845875"/>
            <a:ext cx="3012900" cy="2132100"/>
          </a:xfrm>
          <a:prstGeom prst="rect">
            <a:avLst/>
          </a:prstGeom>
        </p:spPr>
        <p:txBody>
          <a:bodyPr anchorCtr="0" anchor="t" bIns="91425" lIns="91425" spcFirstLastPara="1" rIns="91425" wrap="square" tIns="91425">
            <a:normAutofit fontScale="92500" lnSpcReduction="20000"/>
          </a:bodyPr>
          <a:lstStyle/>
          <a:p>
            <a:pPr indent="-346075" lvl="0" marL="457200" rtl="0" algn="l">
              <a:spcBef>
                <a:spcPts val="800"/>
              </a:spcBef>
              <a:spcAft>
                <a:spcPts val="0"/>
              </a:spcAft>
              <a:buClr>
                <a:schemeClr val="lt1"/>
              </a:buClr>
              <a:buSzPct val="100000"/>
              <a:buChar char="●"/>
            </a:pPr>
            <a:r>
              <a:rPr lang="en" sz="2000">
                <a:solidFill>
                  <a:schemeClr val="lt1"/>
                </a:solidFill>
              </a:rPr>
              <a:t>Descriptive Statistics: Distribution of key variables (age, insurance status)</a:t>
            </a:r>
            <a:endParaRPr sz="2000">
              <a:solidFill>
                <a:schemeClr val="lt1"/>
              </a:solidFill>
            </a:endParaRPr>
          </a:p>
          <a:p>
            <a:pPr indent="-346075" lvl="0" marL="457200" rtl="0" algn="l">
              <a:spcBef>
                <a:spcPts val="0"/>
              </a:spcBef>
              <a:spcAft>
                <a:spcPts val="0"/>
              </a:spcAft>
              <a:buClr>
                <a:schemeClr val="lt1"/>
              </a:buClr>
              <a:buSzPct val="100000"/>
              <a:buChar char="●"/>
            </a:pPr>
            <a:r>
              <a:rPr lang="en" sz="2000">
                <a:solidFill>
                  <a:schemeClr val="lt1"/>
                </a:solidFill>
              </a:rPr>
              <a:t>Insurance and Stroke: Cross-tabulation results </a:t>
            </a:r>
            <a:endParaRPr sz="2000">
              <a:solidFill>
                <a:schemeClr val="lt1"/>
              </a:solidFill>
            </a:endParaRPr>
          </a:p>
        </p:txBody>
      </p:sp>
      <p:pic>
        <p:nvPicPr>
          <p:cNvPr id="90" name="Google Shape;90;p17"/>
          <p:cNvPicPr preferRelativeResize="0"/>
          <p:nvPr/>
        </p:nvPicPr>
        <p:blipFill>
          <a:blip r:embed="rId4">
            <a:alphaModFix/>
          </a:blip>
          <a:stretch>
            <a:fillRect/>
          </a:stretch>
        </p:blipFill>
        <p:spPr>
          <a:xfrm>
            <a:off x="4665171" y="2149425"/>
            <a:ext cx="4263176" cy="844650"/>
          </a:xfrm>
          <a:prstGeom prst="rect">
            <a:avLst/>
          </a:prstGeom>
          <a:noFill/>
          <a:ln>
            <a:noFill/>
          </a:ln>
        </p:spPr>
      </p:pic>
      <p:sp>
        <p:nvSpPr>
          <p:cNvPr id="91" name="Google Shape;91;p17"/>
          <p:cNvSpPr txBox="1"/>
          <p:nvPr/>
        </p:nvSpPr>
        <p:spPr>
          <a:xfrm>
            <a:off x="5096350" y="3119100"/>
            <a:ext cx="32742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1200">
                <a:solidFill>
                  <a:schemeClr val="dk2"/>
                </a:solidFill>
                <a:latin typeface="Roboto"/>
                <a:ea typeface="Roboto"/>
                <a:cs typeface="Roboto"/>
                <a:sym typeface="Roboto"/>
              </a:rPr>
              <a:t>Figure 1: Stroke Diagnosis by Insurance Status </a:t>
            </a:r>
            <a:endParaRPr i="1" sz="1200">
              <a:solidFill>
                <a:schemeClr val="dk2"/>
              </a:solidFill>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8"/>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950"/>
              <a:t>Demographic and Condition Distributions </a:t>
            </a:r>
            <a:endParaRPr sz="2950"/>
          </a:p>
        </p:txBody>
      </p:sp>
      <p:pic>
        <p:nvPicPr>
          <p:cNvPr id="97" name="Google Shape;97;p18"/>
          <p:cNvPicPr preferRelativeResize="0"/>
          <p:nvPr/>
        </p:nvPicPr>
        <p:blipFill>
          <a:blip r:embed="rId4">
            <a:alphaModFix/>
          </a:blip>
          <a:stretch>
            <a:fillRect/>
          </a:stretch>
        </p:blipFill>
        <p:spPr>
          <a:xfrm>
            <a:off x="1414375" y="1289225"/>
            <a:ext cx="6553641" cy="385427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9"/>
          <p:cNvSpPr txBox="1"/>
          <p:nvPr>
            <p:ph type="title"/>
          </p:nvPr>
        </p:nvSpPr>
        <p:spPr>
          <a:xfrm>
            <a:off x="311725" y="500925"/>
            <a:ext cx="3706500" cy="1072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950"/>
              <a:t>Correlation Analysis</a:t>
            </a:r>
            <a:endParaRPr sz="2950"/>
          </a:p>
        </p:txBody>
      </p:sp>
      <p:sp>
        <p:nvSpPr>
          <p:cNvPr id="103" name="Google Shape;103;p19"/>
          <p:cNvSpPr txBox="1"/>
          <p:nvPr>
            <p:ph idx="1" type="body"/>
          </p:nvPr>
        </p:nvSpPr>
        <p:spPr>
          <a:xfrm>
            <a:off x="311725" y="1806225"/>
            <a:ext cx="4166400" cy="1203600"/>
          </a:xfrm>
          <a:prstGeom prst="rect">
            <a:avLst/>
          </a:prstGeom>
        </p:spPr>
        <p:txBody>
          <a:bodyPr anchorCtr="0" anchor="t" bIns="91425" lIns="91425" spcFirstLastPara="1" rIns="91425" wrap="square" tIns="91425">
            <a:noAutofit/>
          </a:bodyPr>
          <a:lstStyle/>
          <a:p>
            <a:pPr indent="-346075" lvl="0" marL="457200" rtl="0" algn="l">
              <a:spcBef>
                <a:spcPts val="800"/>
              </a:spcBef>
              <a:spcAft>
                <a:spcPts val="0"/>
              </a:spcAft>
              <a:buClr>
                <a:schemeClr val="lt1"/>
              </a:buClr>
              <a:buSzPts val="1850"/>
              <a:buChar char="●"/>
            </a:pPr>
            <a:r>
              <a:rPr lang="en" sz="1850">
                <a:solidFill>
                  <a:schemeClr val="lt1"/>
                </a:solidFill>
              </a:rPr>
              <a:t>Key Insight: Strong correlation between age and health conditions</a:t>
            </a:r>
            <a:endParaRPr sz="1850">
              <a:solidFill>
                <a:schemeClr val="lt1"/>
              </a:solidFill>
            </a:endParaRPr>
          </a:p>
          <a:p>
            <a:pPr indent="0" lvl="0" marL="0" rtl="0" algn="l">
              <a:spcBef>
                <a:spcPts val="0"/>
              </a:spcBef>
              <a:spcAft>
                <a:spcPts val="1200"/>
              </a:spcAft>
              <a:buNone/>
            </a:pPr>
            <a:r>
              <a:t/>
            </a:r>
            <a:endParaRPr sz="1850">
              <a:solidFill>
                <a:schemeClr val="lt1"/>
              </a:solidFill>
            </a:endParaRPr>
          </a:p>
        </p:txBody>
      </p:sp>
      <p:sp>
        <p:nvSpPr>
          <p:cNvPr id="104" name="Google Shape;104;p19"/>
          <p:cNvSpPr txBox="1"/>
          <p:nvPr/>
        </p:nvSpPr>
        <p:spPr>
          <a:xfrm>
            <a:off x="5347888" y="4570175"/>
            <a:ext cx="32742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1200">
                <a:solidFill>
                  <a:schemeClr val="dk2"/>
                </a:solidFill>
                <a:latin typeface="Roboto"/>
                <a:ea typeface="Roboto"/>
                <a:cs typeface="Roboto"/>
                <a:sym typeface="Roboto"/>
              </a:rPr>
              <a:t>Figure 3: Stroke Diagnosis by Insurance Status Correlation Matrix of Cardiovascular Condition</a:t>
            </a:r>
            <a:endParaRPr i="1" sz="1200">
              <a:latin typeface="Times New Roman"/>
              <a:ea typeface="Times New Roman"/>
              <a:cs typeface="Times New Roman"/>
              <a:sym typeface="Times New Roman"/>
            </a:endParaRPr>
          </a:p>
        </p:txBody>
      </p:sp>
      <p:pic>
        <p:nvPicPr>
          <p:cNvPr id="105" name="Google Shape;105;p19"/>
          <p:cNvPicPr preferRelativeResize="0"/>
          <p:nvPr/>
        </p:nvPicPr>
        <p:blipFill>
          <a:blip r:embed="rId4">
            <a:alphaModFix/>
          </a:blip>
          <a:stretch>
            <a:fillRect/>
          </a:stretch>
        </p:blipFill>
        <p:spPr>
          <a:xfrm>
            <a:off x="4572000" y="599238"/>
            <a:ext cx="4361075" cy="394501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0"/>
          <p:cNvSpPr txBox="1"/>
          <p:nvPr>
            <p:ph type="title"/>
          </p:nvPr>
        </p:nvSpPr>
        <p:spPr>
          <a:xfrm>
            <a:off x="311725" y="500925"/>
            <a:ext cx="3706500" cy="60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950"/>
              <a:t>Distribution of Age</a:t>
            </a:r>
            <a:endParaRPr sz="2950"/>
          </a:p>
        </p:txBody>
      </p:sp>
      <p:sp>
        <p:nvSpPr>
          <p:cNvPr id="111" name="Google Shape;111;p20"/>
          <p:cNvSpPr txBox="1"/>
          <p:nvPr/>
        </p:nvSpPr>
        <p:spPr>
          <a:xfrm>
            <a:off x="5416963" y="3891925"/>
            <a:ext cx="32742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1200">
                <a:solidFill>
                  <a:schemeClr val="dk2"/>
                </a:solidFill>
                <a:latin typeface="Roboto"/>
                <a:ea typeface="Roboto"/>
                <a:cs typeface="Roboto"/>
                <a:sym typeface="Roboto"/>
              </a:rPr>
              <a:t>Figure 4: Distribution of Age in the MEPS Dataset Stroke Diagnosis by Insurance Status </a:t>
            </a:r>
            <a:endParaRPr i="1" sz="1200">
              <a:solidFill>
                <a:schemeClr val="dk2"/>
              </a:solidFill>
              <a:latin typeface="Roboto"/>
              <a:ea typeface="Roboto"/>
              <a:cs typeface="Roboto"/>
              <a:sym typeface="Roboto"/>
            </a:endParaRPr>
          </a:p>
        </p:txBody>
      </p:sp>
      <p:pic>
        <p:nvPicPr>
          <p:cNvPr id="112" name="Google Shape;112;p20"/>
          <p:cNvPicPr preferRelativeResize="0"/>
          <p:nvPr/>
        </p:nvPicPr>
        <p:blipFill>
          <a:blip r:embed="rId3">
            <a:alphaModFix/>
          </a:blip>
          <a:stretch>
            <a:fillRect/>
          </a:stretch>
        </p:blipFill>
        <p:spPr>
          <a:xfrm>
            <a:off x="4775551" y="722575"/>
            <a:ext cx="4177150" cy="32769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1"/>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950"/>
              <a:t>Predictive Modeling</a:t>
            </a:r>
            <a:endParaRPr sz="2950"/>
          </a:p>
        </p:txBody>
      </p:sp>
      <p:pic>
        <p:nvPicPr>
          <p:cNvPr id="118" name="Google Shape;118;p21"/>
          <p:cNvPicPr preferRelativeResize="0"/>
          <p:nvPr/>
        </p:nvPicPr>
        <p:blipFill>
          <a:blip r:embed="rId4">
            <a:alphaModFix/>
          </a:blip>
          <a:stretch>
            <a:fillRect/>
          </a:stretch>
        </p:blipFill>
        <p:spPr>
          <a:xfrm>
            <a:off x="0" y="1968050"/>
            <a:ext cx="4803425" cy="1771606"/>
          </a:xfrm>
          <a:prstGeom prst="rect">
            <a:avLst/>
          </a:prstGeom>
          <a:noFill/>
          <a:ln>
            <a:noFill/>
          </a:ln>
        </p:spPr>
      </p:pic>
      <p:sp>
        <p:nvSpPr>
          <p:cNvPr id="119" name="Google Shape;119;p21"/>
          <p:cNvSpPr txBox="1"/>
          <p:nvPr/>
        </p:nvSpPr>
        <p:spPr>
          <a:xfrm>
            <a:off x="1036288" y="3694425"/>
            <a:ext cx="32742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1200">
                <a:solidFill>
                  <a:schemeClr val="dk2"/>
                </a:solidFill>
                <a:latin typeface="Roboto"/>
                <a:ea typeface="Roboto"/>
                <a:cs typeface="Roboto"/>
                <a:sym typeface="Roboto"/>
              </a:rPr>
              <a:t>Figure 5: Logistic Regression Classification Report</a:t>
            </a:r>
            <a:endParaRPr i="1" sz="1200">
              <a:solidFill>
                <a:schemeClr val="dk2"/>
              </a:solidFill>
              <a:latin typeface="Roboto"/>
              <a:ea typeface="Roboto"/>
              <a:cs typeface="Roboto"/>
              <a:sym typeface="Roboto"/>
            </a:endParaRPr>
          </a:p>
        </p:txBody>
      </p:sp>
      <p:pic>
        <p:nvPicPr>
          <p:cNvPr id="120" name="Google Shape;120;p21"/>
          <p:cNvPicPr preferRelativeResize="0"/>
          <p:nvPr/>
        </p:nvPicPr>
        <p:blipFill>
          <a:blip r:embed="rId5">
            <a:alphaModFix/>
          </a:blip>
          <a:stretch>
            <a:fillRect/>
          </a:stretch>
        </p:blipFill>
        <p:spPr>
          <a:xfrm>
            <a:off x="4832400" y="1657298"/>
            <a:ext cx="3999901" cy="2773002"/>
          </a:xfrm>
          <a:prstGeom prst="rect">
            <a:avLst/>
          </a:prstGeom>
          <a:noFill/>
          <a:ln>
            <a:noFill/>
          </a:ln>
        </p:spPr>
      </p:pic>
      <p:sp>
        <p:nvSpPr>
          <p:cNvPr id="121" name="Google Shape;121;p21"/>
          <p:cNvSpPr txBox="1"/>
          <p:nvPr/>
        </p:nvSpPr>
        <p:spPr>
          <a:xfrm>
            <a:off x="5154713" y="4581900"/>
            <a:ext cx="32742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1200">
                <a:solidFill>
                  <a:schemeClr val="dk2"/>
                </a:solidFill>
                <a:latin typeface="Roboto"/>
                <a:ea typeface="Roboto"/>
                <a:cs typeface="Roboto"/>
                <a:sym typeface="Roboto"/>
              </a:rPr>
              <a:t>Figure 6: Stroke Prediction - ROC Curve </a:t>
            </a:r>
            <a:endParaRPr i="1" sz="1200">
              <a:solidFill>
                <a:schemeClr val="dk2"/>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2"/>
          <p:cNvSpPr txBox="1"/>
          <p:nvPr>
            <p:ph type="title"/>
          </p:nvPr>
        </p:nvSpPr>
        <p:spPr>
          <a:xfrm>
            <a:off x="311725" y="3485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950"/>
              <a:t>Logistic Regression Report</a:t>
            </a:r>
            <a:endParaRPr sz="2950"/>
          </a:p>
        </p:txBody>
      </p:sp>
      <p:pic>
        <p:nvPicPr>
          <p:cNvPr id="127" name="Google Shape;127;p22"/>
          <p:cNvPicPr preferRelativeResize="0"/>
          <p:nvPr/>
        </p:nvPicPr>
        <p:blipFill rotWithShape="1">
          <a:blip r:embed="rId3">
            <a:alphaModFix/>
          </a:blip>
          <a:srcRect b="5051" l="5444" r="19457" t="0"/>
          <a:stretch/>
        </p:blipFill>
        <p:spPr>
          <a:xfrm>
            <a:off x="403625" y="1764475"/>
            <a:ext cx="4085300" cy="1999700"/>
          </a:xfrm>
          <a:prstGeom prst="rect">
            <a:avLst/>
          </a:prstGeom>
          <a:noFill/>
          <a:ln>
            <a:noFill/>
          </a:ln>
        </p:spPr>
      </p:pic>
      <p:sp>
        <p:nvSpPr>
          <p:cNvPr id="128" name="Google Shape;128;p22"/>
          <p:cNvSpPr txBox="1"/>
          <p:nvPr/>
        </p:nvSpPr>
        <p:spPr>
          <a:xfrm>
            <a:off x="725938" y="3769025"/>
            <a:ext cx="32742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1200">
                <a:solidFill>
                  <a:schemeClr val="dk2"/>
                </a:solidFill>
                <a:latin typeface="Roboto"/>
                <a:ea typeface="Roboto"/>
                <a:cs typeface="Roboto"/>
                <a:sym typeface="Roboto"/>
              </a:rPr>
              <a:t>Figure 7: Logistic Regression Report - Insurance Status Prediction</a:t>
            </a:r>
            <a:endParaRPr i="1" sz="1200">
              <a:solidFill>
                <a:schemeClr val="dk2"/>
              </a:solidFill>
              <a:latin typeface="Roboto"/>
              <a:ea typeface="Roboto"/>
              <a:cs typeface="Roboto"/>
              <a:sym typeface="Roboto"/>
            </a:endParaRPr>
          </a:p>
        </p:txBody>
      </p:sp>
      <p:pic>
        <p:nvPicPr>
          <p:cNvPr id="129" name="Google Shape;129;p22"/>
          <p:cNvPicPr preferRelativeResize="0"/>
          <p:nvPr/>
        </p:nvPicPr>
        <p:blipFill>
          <a:blip r:embed="rId4">
            <a:alphaModFix/>
          </a:blip>
          <a:stretch>
            <a:fillRect/>
          </a:stretch>
        </p:blipFill>
        <p:spPr>
          <a:xfrm>
            <a:off x="4832401" y="1672263"/>
            <a:ext cx="3999900" cy="2743073"/>
          </a:xfrm>
          <a:prstGeom prst="rect">
            <a:avLst/>
          </a:prstGeom>
          <a:noFill/>
          <a:ln>
            <a:noFill/>
          </a:ln>
        </p:spPr>
      </p:pic>
      <p:sp>
        <p:nvSpPr>
          <p:cNvPr id="130" name="Google Shape;130;p22"/>
          <p:cNvSpPr txBox="1"/>
          <p:nvPr/>
        </p:nvSpPr>
        <p:spPr>
          <a:xfrm>
            <a:off x="5154713" y="4467600"/>
            <a:ext cx="32742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1200">
                <a:solidFill>
                  <a:schemeClr val="dk2"/>
                </a:solidFill>
                <a:latin typeface="Roboto"/>
                <a:ea typeface="Roboto"/>
                <a:cs typeface="Roboto"/>
                <a:sym typeface="Roboto"/>
              </a:rPr>
              <a:t>Figure 8: Logistic Regression Report - Insurance Status Prediction</a:t>
            </a:r>
            <a:endParaRPr i="1" sz="1200">
              <a:solidFill>
                <a:schemeClr val="dk2"/>
              </a:solidFill>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3"/>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960"/>
              <a:t>K-Means Clustering for Patient Segmentation</a:t>
            </a:r>
            <a:endParaRPr sz="1520"/>
          </a:p>
        </p:txBody>
      </p:sp>
      <p:sp>
        <p:nvSpPr>
          <p:cNvPr id="136" name="Google Shape;136;p23"/>
          <p:cNvSpPr txBox="1"/>
          <p:nvPr>
            <p:ph idx="1" type="body"/>
          </p:nvPr>
        </p:nvSpPr>
        <p:spPr>
          <a:xfrm>
            <a:off x="311700" y="1505700"/>
            <a:ext cx="3999900" cy="3076200"/>
          </a:xfrm>
          <a:prstGeom prst="rect">
            <a:avLst/>
          </a:prstGeom>
        </p:spPr>
        <p:txBody>
          <a:bodyPr anchorCtr="0" anchor="t" bIns="91425" lIns="91425" spcFirstLastPara="1" rIns="91425" wrap="square" tIns="91425">
            <a:noAutofit/>
          </a:bodyPr>
          <a:lstStyle/>
          <a:p>
            <a:pPr indent="-346075" lvl="0" marL="457200" rtl="0" algn="l">
              <a:spcBef>
                <a:spcPts val="800"/>
              </a:spcBef>
              <a:spcAft>
                <a:spcPts val="0"/>
              </a:spcAft>
              <a:buClr>
                <a:schemeClr val="dk1"/>
              </a:buClr>
              <a:buSzPts val="1850"/>
              <a:buChar char="●"/>
            </a:pPr>
            <a:r>
              <a:rPr lang="en" sz="1850">
                <a:solidFill>
                  <a:srgbClr val="000000"/>
                </a:solidFill>
              </a:rPr>
              <a:t>Age vs. Insurance: A clear separation of insurance categories by age.</a:t>
            </a:r>
            <a:endParaRPr sz="1850">
              <a:solidFill>
                <a:srgbClr val="000000"/>
              </a:solidFill>
            </a:endParaRPr>
          </a:p>
          <a:p>
            <a:pPr indent="-346075" lvl="0" marL="457200" rtl="0" algn="l">
              <a:spcBef>
                <a:spcPts val="0"/>
              </a:spcBef>
              <a:spcAft>
                <a:spcPts val="0"/>
              </a:spcAft>
              <a:buClr>
                <a:schemeClr val="dk1"/>
              </a:buClr>
              <a:buSzPts val="1850"/>
              <a:buChar char="●"/>
            </a:pPr>
            <a:r>
              <a:rPr lang="en" sz="1850">
                <a:solidFill>
                  <a:srgbClr val="000000"/>
                </a:solidFill>
              </a:rPr>
              <a:t>Private vs. Public: More uniform distribution for public insurance.</a:t>
            </a:r>
            <a:endParaRPr sz="1850">
              <a:solidFill>
                <a:srgbClr val="000000"/>
              </a:solidFill>
            </a:endParaRPr>
          </a:p>
          <a:p>
            <a:pPr indent="-346075" lvl="0" marL="457200" rtl="0" algn="l">
              <a:spcBef>
                <a:spcPts val="0"/>
              </a:spcBef>
              <a:spcAft>
                <a:spcPts val="0"/>
              </a:spcAft>
              <a:buClr>
                <a:schemeClr val="dk1"/>
              </a:buClr>
              <a:buSzPts val="1850"/>
              <a:buChar char="●"/>
            </a:pPr>
            <a:r>
              <a:rPr lang="en" sz="1850">
                <a:solidFill>
                  <a:srgbClr val="000000"/>
                </a:solidFill>
              </a:rPr>
              <a:t>Insights: Age plays a crucial role in insurance status and could inform targeted interventions.</a:t>
            </a:r>
            <a:endParaRPr sz="1850">
              <a:solidFill>
                <a:schemeClr val="dk1"/>
              </a:solidFill>
            </a:endParaRPr>
          </a:p>
        </p:txBody>
      </p:sp>
      <p:sp>
        <p:nvSpPr>
          <p:cNvPr id="137" name="Google Shape;137;p23"/>
          <p:cNvSpPr txBox="1"/>
          <p:nvPr/>
        </p:nvSpPr>
        <p:spPr>
          <a:xfrm>
            <a:off x="5387138" y="4581900"/>
            <a:ext cx="32742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1200">
                <a:solidFill>
                  <a:schemeClr val="dk2"/>
                </a:solidFill>
                <a:latin typeface="Roboto"/>
                <a:ea typeface="Roboto"/>
                <a:cs typeface="Roboto"/>
                <a:sym typeface="Roboto"/>
              </a:rPr>
              <a:t>Figure 9: Patient Segmentation Using K-Means Clustering</a:t>
            </a:r>
            <a:endParaRPr i="1" sz="1200">
              <a:solidFill>
                <a:schemeClr val="dk2"/>
              </a:solidFill>
              <a:latin typeface="Roboto"/>
              <a:ea typeface="Roboto"/>
              <a:cs typeface="Roboto"/>
              <a:sym typeface="Roboto"/>
            </a:endParaRPr>
          </a:p>
        </p:txBody>
      </p:sp>
      <p:pic>
        <p:nvPicPr>
          <p:cNvPr id="138" name="Google Shape;138;p23"/>
          <p:cNvPicPr preferRelativeResize="0"/>
          <p:nvPr/>
        </p:nvPicPr>
        <p:blipFill rotWithShape="1">
          <a:blip r:embed="rId3">
            <a:alphaModFix/>
          </a:blip>
          <a:srcRect b="0" l="0" r="15497" t="0"/>
          <a:stretch/>
        </p:blipFill>
        <p:spPr>
          <a:xfrm>
            <a:off x="5111287" y="1703775"/>
            <a:ext cx="3825925" cy="28781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4"/>
          <p:cNvSpPr txBox="1"/>
          <p:nvPr>
            <p:ph type="title"/>
          </p:nvPr>
        </p:nvSpPr>
        <p:spPr>
          <a:xfrm>
            <a:off x="311725" y="1961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950"/>
              <a:t>Clustering of Patients based on Health Conditions </a:t>
            </a:r>
            <a:endParaRPr sz="2950"/>
          </a:p>
        </p:txBody>
      </p:sp>
      <p:sp>
        <p:nvSpPr>
          <p:cNvPr id="144" name="Google Shape;144;p24"/>
          <p:cNvSpPr txBox="1"/>
          <p:nvPr>
            <p:ph idx="1" type="body"/>
          </p:nvPr>
        </p:nvSpPr>
        <p:spPr>
          <a:xfrm>
            <a:off x="311700" y="1505700"/>
            <a:ext cx="3999900" cy="3076200"/>
          </a:xfrm>
          <a:prstGeom prst="rect">
            <a:avLst/>
          </a:prstGeom>
        </p:spPr>
        <p:txBody>
          <a:bodyPr anchorCtr="0" anchor="t" bIns="91425" lIns="91425" spcFirstLastPara="1" rIns="91425" wrap="square" tIns="91425">
            <a:noAutofit/>
          </a:bodyPr>
          <a:lstStyle/>
          <a:p>
            <a:pPr indent="-346075" lvl="0" marL="457200" rtl="0" algn="l">
              <a:spcBef>
                <a:spcPts val="0"/>
              </a:spcBef>
              <a:spcAft>
                <a:spcPts val="0"/>
              </a:spcAft>
              <a:buClr>
                <a:srgbClr val="000000"/>
              </a:buClr>
              <a:buSzPts val="1850"/>
              <a:buFont typeface="Arial"/>
              <a:buChar char="●"/>
            </a:pPr>
            <a:r>
              <a:rPr lang="en" sz="1850">
                <a:solidFill>
                  <a:srgbClr val="000000"/>
                </a:solidFill>
              </a:rPr>
              <a:t>Patient Segmentation: Clustering based on heart disease severity and insurance.</a:t>
            </a:r>
            <a:endParaRPr sz="1850">
              <a:solidFill>
                <a:srgbClr val="000000"/>
              </a:solidFill>
            </a:endParaRPr>
          </a:p>
          <a:p>
            <a:pPr indent="-346075" lvl="0" marL="457200" rtl="0" algn="l">
              <a:spcBef>
                <a:spcPts val="0"/>
              </a:spcBef>
              <a:spcAft>
                <a:spcPts val="0"/>
              </a:spcAft>
              <a:buClr>
                <a:srgbClr val="000000"/>
              </a:buClr>
              <a:buSzPts val="1850"/>
              <a:buFont typeface="Arial"/>
              <a:buChar char="●"/>
            </a:pPr>
            <a:r>
              <a:rPr lang="en" sz="1850">
                <a:solidFill>
                  <a:srgbClr val="000000"/>
                </a:solidFill>
              </a:rPr>
              <a:t>Clusters 1 and 2: High-risk patients with greater cardiovascular health issues.</a:t>
            </a:r>
            <a:endParaRPr sz="1850">
              <a:solidFill>
                <a:srgbClr val="000000"/>
              </a:solidFill>
            </a:endParaRPr>
          </a:p>
          <a:p>
            <a:pPr indent="-346075" lvl="0" marL="457200" rtl="0" algn="l">
              <a:spcBef>
                <a:spcPts val="0"/>
              </a:spcBef>
              <a:spcAft>
                <a:spcPts val="0"/>
              </a:spcAft>
              <a:buClr>
                <a:srgbClr val="000000"/>
              </a:buClr>
              <a:buSzPts val="1850"/>
              <a:buFont typeface="Arial"/>
              <a:buChar char="●"/>
            </a:pPr>
            <a:r>
              <a:rPr lang="en" sz="1850">
                <a:solidFill>
                  <a:srgbClr val="000000"/>
                </a:solidFill>
              </a:rPr>
              <a:t>Healthcare Targeting: Identifying patients who require more tailored interventions.</a:t>
            </a:r>
            <a:endParaRPr sz="1850"/>
          </a:p>
        </p:txBody>
      </p:sp>
      <p:sp>
        <p:nvSpPr>
          <p:cNvPr id="145" name="Google Shape;145;p24"/>
          <p:cNvSpPr txBox="1"/>
          <p:nvPr>
            <p:ph idx="2" type="body"/>
          </p:nvPr>
        </p:nvSpPr>
        <p:spPr>
          <a:xfrm>
            <a:off x="4832400" y="1505700"/>
            <a:ext cx="3999900" cy="3076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46" name="Google Shape;146;p24"/>
          <p:cNvPicPr preferRelativeResize="0"/>
          <p:nvPr/>
        </p:nvPicPr>
        <p:blipFill rotWithShape="1">
          <a:blip r:embed="rId3">
            <a:alphaModFix/>
          </a:blip>
          <a:srcRect b="0" l="0" r="15182" t="0"/>
          <a:stretch/>
        </p:blipFill>
        <p:spPr>
          <a:xfrm>
            <a:off x="5119563" y="1710300"/>
            <a:ext cx="3425576" cy="2667000"/>
          </a:xfrm>
          <a:prstGeom prst="rect">
            <a:avLst/>
          </a:prstGeom>
          <a:noFill/>
          <a:ln>
            <a:noFill/>
          </a:ln>
        </p:spPr>
      </p:pic>
      <p:sp>
        <p:nvSpPr>
          <p:cNvPr id="147" name="Google Shape;147;p24"/>
          <p:cNvSpPr txBox="1"/>
          <p:nvPr/>
        </p:nvSpPr>
        <p:spPr>
          <a:xfrm>
            <a:off x="5387138" y="4277100"/>
            <a:ext cx="32742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1200">
                <a:solidFill>
                  <a:schemeClr val="dk2"/>
                </a:solidFill>
                <a:latin typeface="Roboto"/>
                <a:ea typeface="Roboto"/>
                <a:cs typeface="Roboto"/>
                <a:sym typeface="Roboto"/>
              </a:rPr>
              <a:t>Figure 10: Patient Segmentation Using K-Means Clustering</a:t>
            </a:r>
            <a:endParaRPr i="1" sz="1200">
              <a:solidFill>
                <a:schemeClr val="dk2"/>
              </a:solidFill>
              <a:latin typeface="Roboto"/>
              <a:ea typeface="Roboto"/>
              <a:cs typeface="Roboto"/>
              <a:sym typeface="Robo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5"/>
          <p:cNvSpPr txBox="1"/>
          <p:nvPr>
            <p:ph type="title"/>
          </p:nvPr>
        </p:nvSpPr>
        <p:spPr>
          <a:xfrm>
            <a:off x="311725" y="348525"/>
            <a:ext cx="8520600" cy="623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Clustering of Patients (k=3) Based on Health Conditions</a:t>
            </a:r>
            <a:endParaRPr/>
          </a:p>
        </p:txBody>
      </p:sp>
      <p:sp>
        <p:nvSpPr>
          <p:cNvPr id="153" name="Google Shape;153;p25"/>
          <p:cNvSpPr txBox="1"/>
          <p:nvPr>
            <p:ph idx="1" type="body"/>
          </p:nvPr>
        </p:nvSpPr>
        <p:spPr>
          <a:xfrm>
            <a:off x="311700" y="1505700"/>
            <a:ext cx="3999900" cy="3076200"/>
          </a:xfrm>
          <a:prstGeom prst="rect">
            <a:avLst/>
          </a:prstGeom>
        </p:spPr>
        <p:txBody>
          <a:bodyPr anchorCtr="0" anchor="t" bIns="91425" lIns="91425" spcFirstLastPara="1" rIns="91425" wrap="square" tIns="91425">
            <a:noAutofit/>
          </a:bodyPr>
          <a:lstStyle/>
          <a:p>
            <a:pPr indent="-346075" lvl="0" marL="457200" rtl="0" algn="l">
              <a:spcBef>
                <a:spcPts val="0"/>
              </a:spcBef>
              <a:spcAft>
                <a:spcPts val="0"/>
              </a:spcAft>
              <a:buClr>
                <a:srgbClr val="000000"/>
              </a:buClr>
              <a:buSzPts val="1850"/>
              <a:buFont typeface="Arial"/>
              <a:buChar char="●"/>
            </a:pPr>
            <a:r>
              <a:rPr lang="en" sz="1850">
                <a:solidFill>
                  <a:srgbClr val="000000"/>
                </a:solidFill>
              </a:rPr>
              <a:t>k=3 Clusters: Dividing patients into three severity groups.</a:t>
            </a:r>
            <a:endParaRPr sz="1850">
              <a:solidFill>
                <a:srgbClr val="000000"/>
              </a:solidFill>
            </a:endParaRPr>
          </a:p>
          <a:p>
            <a:pPr indent="-346075" lvl="0" marL="457200" rtl="0" algn="l">
              <a:spcBef>
                <a:spcPts val="0"/>
              </a:spcBef>
              <a:spcAft>
                <a:spcPts val="0"/>
              </a:spcAft>
              <a:buClr>
                <a:srgbClr val="000000"/>
              </a:buClr>
              <a:buSzPts val="1850"/>
              <a:buFont typeface="Arial"/>
              <a:buChar char="●"/>
            </a:pPr>
            <a:r>
              <a:rPr lang="en" sz="1850">
                <a:solidFill>
                  <a:srgbClr val="000000"/>
                </a:solidFill>
              </a:rPr>
              <a:t>Cluster 2: High-risk group with severe cardiovascular conditions.</a:t>
            </a:r>
            <a:endParaRPr sz="1850">
              <a:solidFill>
                <a:srgbClr val="000000"/>
              </a:solidFill>
            </a:endParaRPr>
          </a:p>
          <a:p>
            <a:pPr indent="-346075" lvl="0" marL="457200" rtl="0" algn="l">
              <a:spcBef>
                <a:spcPts val="0"/>
              </a:spcBef>
              <a:spcAft>
                <a:spcPts val="0"/>
              </a:spcAft>
              <a:buClr>
                <a:srgbClr val="000000"/>
              </a:buClr>
              <a:buSzPts val="1850"/>
              <a:buFont typeface="Arial"/>
              <a:buChar char="●"/>
            </a:pPr>
            <a:r>
              <a:rPr lang="en" sz="1850">
                <a:solidFill>
                  <a:srgbClr val="000000"/>
                </a:solidFill>
              </a:rPr>
              <a:t>Actionable Insights: Targeting high-risk patients for early interventions.</a:t>
            </a:r>
            <a:endParaRPr sz="1850"/>
          </a:p>
        </p:txBody>
      </p:sp>
      <p:sp>
        <p:nvSpPr>
          <p:cNvPr id="154" name="Google Shape;154;p25"/>
          <p:cNvSpPr txBox="1"/>
          <p:nvPr>
            <p:ph idx="2" type="body"/>
          </p:nvPr>
        </p:nvSpPr>
        <p:spPr>
          <a:xfrm>
            <a:off x="4832400" y="1505700"/>
            <a:ext cx="3999900" cy="3076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55" name="Google Shape;155;p25"/>
          <p:cNvPicPr preferRelativeResize="0"/>
          <p:nvPr/>
        </p:nvPicPr>
        <p:blipFill>
          <a:blip r:embed="rId3">
            <a:alphaModFix/>
          </a:blip>
          <a:stretch>
            <a:fillRect/>
          </a:stretch>
        </p:blipFill>
        <p:spPr>
          <a:xfrm>
            <a:off x="5046400" y="1505700"/>
            <a:ext cx="3571875" cy="2895600"/>
          </a:xfrm>
          <a:prstGeom prst="rect">
            <a:avLst/>
          </a:prstGeom>
          <a:noFill/>
          <a:ln>
            <a:noFill/>
          </a:ln>
        </p:spPr>
      </p:pic>
      <p:sp>
        <p:nvSpPr>
          <p:cNvPr id="156" name="Google Shape;156;p25"/>
          <p:cNvSpPr txBox="1"/>
          <p:nvPr/>
        </p:nvSpPr>
        <p:spPr>
          <a:xfrm>
            <a:off x="5387138" y="4429500"/>
            <a:ext cx="32742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1200">
                <a:solidFill>
                  <a:schemeClr val="dk1"/>
                </a:solidFill>
                <a:latin typeface="Roboto"/>
                <a:ea typeface="Roboto"/>
                <a:cs typeface="Roboto"/>
                <a:sym typeface="Roboto"/>
              </a:rPr>
              <a:t>Figure 11: </a:t>
            </a:r>
            <a:r>
              <a:rPr i="1" lang="en" sz="1200">
                <a:solidFill>
                  <a:schemeClr val="dk1"/>
                </a:solidFill>
                <a:latin typeface="Roboto"/>
                <a:ea typeface="Roboto"/>
                <a:cs typeface="Roboto"/>
                <a:sym typeface="Roboto"/>
              </a:rPr>
              <a:t>Clustering of Patients (k=3) Based on Health Conditions</a:t>
            </a:r>
            <a:endParaRPr i="1" sz="1200">
              <a:solidFill>
                <a:schemeClr val="dk1"/>
              </a:solidFill>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6"/>
          <p:cNvSpPr txBox="1"/>
          <p:nvPr>
            <p:ph type="title"/>
          </p:nvPr>
        </p:nvSpPr>
        <p:spPr>
          <a:xfrm>
            <a:off x="311725" y="500925"/>
            <a:ext cx="3706500" cy="127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950"/>
              <a:t>Clustering Interpretation</a:t>
            </a:r>
            <a:endParaRPr sz="2950"/>
          </a:p>
        </p:txBody>
      </p:sp>
      <p:sp>
        <p:nvSpPr>
          <p:cNvPr id="162" name="Google Shape;162;p26"/>
          <p:cNvSpPr txBox="1"/>
          <p:nvPr>
            <p:ph idx="1" type="body"/>
          </p:nvPr>
        </p:nvSpPr>
        <p:spPr>
          <a:xfrm>
            <a:off x="4654775" y="1536300"/>
            <a:ext cx="4166400" cy="2070900"/>
          </a:xfrm>
          <a:prstGeom prst="rect">
            <a:avLst/>
          </a:prstGeom>
        </p:spPr>
        <p:txBody>
          <a:bodyPr anchorCtr="0" anchor="t" bIns="91425" lIns="91425" spcFirstLastPara="1" rIns="91425" wrap="square" tIns="91425">
            <a:normAutofit lnSpcReduction="10000"/>
          </a:bodyPr>
          <a:lstStyle/>
          <a:p>
            <a:pPr indent="-346075" lvl="0" marL="457200" rtl="0" algn="l">
              <a:spcBef>
                <a:spcPts val="800"/>
              </a:spcBef>
              <a:spcAft>
                <a:spcPts val="0"/>
              </a:spcAft>
              <a:buClr>
                <a:schemeClr val="dk1"/>
              </a:buClr>
              <a:buSzPts val="1850"/>
              <a:buChar char="●"/>
            </a:pPr>
            <a:r>
              <a:rPr lang="en" sz="1850">
                <a:solidFill>
                  <a:schemeClr val="dk1"/>
                </a:solidFill>
              </a:rPr>
              <a:t>Cluster 1: Healthy patients with low scores across conditions</a:t>
            </a:r>
            <a:endParaRPr sz="1850">
              <a:solidFill>
                <a:schemeClr val="dk1"/>
              </a:solidFill>
            </a:endParaRPr>
          </a:p>
          <a:p>
            <a:pPr indent="-346075" lvl="0" marL="457200" rtl="0" algn="l">
              <a:spcBef>
                <a:spcPts val="0"/>
              </a:spcBef>
              <a:spcAft>
                <a:spcPts val="0"/>
              </a:spcAft>
              <a:buClr>
                <a:schemeClr val="dk1"/>
              </a:buClr>
              <a:buSzPts val="1850"/>
              <a:buChar char="●"/>
            </a:pPr>
            <a:r>
              <a:rPr lang="en" sz="1850">
                <a:solidFill>
                  <a:schemeClr val="dk1"/>
                </a:solidFill>
              </a:rPr>
              <a:t>Cluster 2: High-risk patients with multiple comorbidities</a:t>
            </a:r>
            <a:endParaRPr sz="1850">
              <a:solidFill>
                <a:schemeClr val="dk1"/>
              </a:solidFill>
            </a:endParaRPr>
          </a:p>
          <a:p>
            <a:pPr indent="-346075" lvl="0" marL="457200" rtl="0" algn="l">
              <a:spcBef>
                <a:spcPts val="0"/>
              </a:spcBef>
              <a:spcAft>
                <a:spcPts val="0"/>
              </a:spcAft>
              <a:buClr>
                <a:schemeClr val="dk1"/>
              </a:buClr>
              <a:buSzPts val="1850"/>
              <a:buChar char="●"/>
            </a:pPr>
            <a:r>
              <a:rPr lang="en" sz="1850">
                <a:solidFill>
                  <a:schemeClr val="dk1"/>
                </a:solidFill>
              </a:rPr>
              <a:t>Cluster 3: Moderate risk, early-stage cardiovascular issues</a:t>
            </a:r>
            <a:endParaRPr sz="185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7"/>
          <p:cNvSpPr txBox="1"/>
          <p:nvPr>
            <p:ph type="title"/>
          </p:nvPr>
        </p:nvSpPr>
        <p:spPr>
          <a:xfrm>
            <a:off x="311725" y="500925"/>
            <a:ext cx="3706500" cy="587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950"/>
              <a:t>Conclusions</a:t>
            </a:r>
            <a:endParaRPr sz="2950"/>
          </a:p>
        </p:txBody>
      </p:sp>
      <p:sp>
        <p:nvSpPr>
          <p:cNvPr id="168" name="Google Shape;168;p27"/>
          <p:cNvSpPr txBox="1"/>
          <p:nvPr>
            <p:ph idx="1" type="body"/>
          </p:nvPr>
        </p:nvSpPr>
        <p:spPr>
          <a:xfrm>
            <a:off x="4664875" y="1136400"/>
            <a:ext cx="4166400" cy="2870700"/>
          </a:xfrm>
          <a:prstGeom prst="rect">
            <a:avLst/>
          </a:prstGeom>
        </p:spPr>
        <p:txBody>
          <a:bodyPr anchorCtr="0" anchor="t" bIns="91425" lIns="91425" spcFirstLastPara="1" rIns="91425" wrap="square" tIns="91425">
            <a:normAutofit lnSpcReduction="10000"/>
          </a:bodyPr>
          <a:lstStyle/>
          <a:p>
            <a:pPr indent="-346075" lvl="0" marL="457200" rtl="0" algn="l">
              <a:spcBef>
                <a:spcPts val="800"/>
              </a:spcBef>
              <a:spcAft>
                <a:spcPts val="0"/>
              </a:spcAft>
              <a:buClr>
                <a:schemeClr val="dk1"/>
              </a:buClr>
              <a:buSzPts val="1850"/>
              <a:buChar char="●"/>
            </a:pPr>
            <a:r>
              <a:rPr lang="en" sz="1850">
                <a:solidFill>
                  <a:schemeClr val="dk1"/>
                </a:solidFill>
              </a:rPr>
              <a:t>Predictive models for stroke can inform healthcare decisions but need to address class imbalance</a:t>
            </a:r>
            <a:endParaRPr sz="1850">
              <a:solidFill>
                <a:schemeClr val="dk1"/>
              </a:solidFill>
            </a:endParaRPr>
          </a:p>
          <a:p>
            <a:pPr indent="-346075" lvl="0" marL="457200" rtl="0" algn="l">
              <a:spcBef>
                <a:spcPts val="0"/>
              </a:spcBef>
              <a:spcAft>
                <a:spcPts val="0"/>
              </a:spcAft>
              <a:buClr>
                <a:schemeClr val="dk1"/>
              </a:buClr>
              <a:buSzPts val="1850"/>
              <a:buChar char="●"/>
            </a:pPr>
            <a:r>
              <a:rPr lang="en" sz="1850">
                <a:solidFill>
                  <a:schemeClr val="dk1"/>
                </a:solidFill>
              </a:rPr>
              <a:t>Patient segmentation offers insights for targeted healthcare interventions</a:t>
            </a:r>
            <a:endParaRPr sz="1850">
              <a:solidFill>
                <a:schemeClr val="dk1"/>
              </a:solidFill>
            </a:endParaRPr>
          </a:p>
          <a:p>
            <a:pPr indent="-346075" lvl="0" marL="457200" rtl="0" algn="l">
              <a:spcBef>
                <a:spcPts val="0"/>
              </a:spcBef>
              <a:spcAft>
                <a:spcPts val="0"/>
              </a:spcAft>
              <a:buClr>
                <a:schemeClr val="dk1"/>
              </a:buClr>
              <a:buSzPts val="1850"/>
              <a:buChar char="●"/>
            </a:pPr>
            <a:r>
              <a:rPr lang="en" sz="1850">
                <a:solidFill>
                  <a:schemeClr val="dk1"/>
                </a:solidFill>
              </a:rPr>
              <a:t>Future Directions: Improving predictive models and incorporating behavioral features</a:t>
            </a:r>
            <a:endParaRPr sz="185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8"/>
          <p:cNvSpPr txBox="1"/>
          <p:nvPr>
            <p:ph type="title"/>
          </p:nvPr>
        </p:nvSpPr>
        <p:spPr>
          <a:xfrm>
            <a:off x="311725" y="500925"/>
            <a:ext cx="3706500" cy="587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2950"/>
              <a:t>References</a:t>
            </a:r>
            <a:endParaRPr sz="2950"/>
          </a:p>
        </p:txBody>
      </p:sp>
      <p:sp>
        <p:nvSpPr>
          <p:cNvPr id="174" name="Google Shape;174;p28"/>
          <p:cNvSpPr txBox="1"/>
          <p:nvPr>
            <p:ph idx="1" type="body"/>
          </p:nvPr>
        </p:nvSpPr>
        <p:spPr>
          <a:xfrm>
            <a:off x="4614375" y="1822425"/>
            <a:ext cx="4166400" cy="1187400"/>
          </a:xfrm>
          <a:prstGeom prst="rect">
            <a:avLst/>
          </a:prstGeom>
        </p:spPr>
        <p:txBody>
          <a:bodyPr anchorCtr="0" anchor="t" bIns="91425" lIns="91425" spcFirstLastPara="1" rIns="91425" wrap="square" tIns="91425">
            <a:normAutofit/>
          </a:bodyPr>
          <a:lstStyle/>
          <a:p>
            <a:pPr indent="0" lvl="0" marL="0" rtl="0" algn="l">
              <a:spcBef>
                <a:spcPts val="800"/>
              </a:spcBef>
              <a:spcAft>
                <a:spcPts val="0"/>
              </a:spcAft>
              <a:buNone/>
            </a:pPr>
            <a:r>
              <a:rPr lang="en" sz="1850">
                <a:solidFill>
                  <a:schemeClr val="dk1"/>
                </a:solidFill>
              </a:rPr>
              <a:t>Agency for Healthcare Research and Quality. (2024). Medical Expenditure Panel Survey (MEPS) datasets.</a:t>
            </a:r>
            <a:endParaRPr sz="185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